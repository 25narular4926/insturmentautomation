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60">
                <a:solidFill>
                  <a:srgbClr val="8B949E"/>
                </a:solidFill>
                <a:latin typeface="Segoe UI Semibold"/>
              </a:rPr>
              <a:t>TESTSTAND SEQUENCE  ·  HARDWARE-IN-LOOP 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"/>
            <a:ext cx="10698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E6EDF3"/>
                </a:solidFill>
                <a:latin typeface="Segoe UI Semibold"/>
              </a:rPr>
              <a:t>One generator, </a:t>
            </a:r>
            <a:r>
              <a:rPr sz="4000" b="1">
                <a:solidFill>
                  <a:srgbClr val="22D3EE"/>
                </a:solidFill>
                <a:latin typeface="Segoe UI Semibold"/>
              </a:rPr>
              <a:t>two scopes</a:t>
            </a:r>
            <a:r>
              <a:rPr sz="4000" b="1">
                <a:solidFill>
                  <a:srgbClr val="E6EDF3"/>
                </a:solidFill>
                <a:latin typeface="Segoe UI Semibold"/>
              </a:rPr>
              <a:t>, one routed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5A623"/>
                </a:solidFill>
                <a:latin typeface="Consolas"/>
              </a:rPr>
              <a:t>teststand_named_demo.py</a:t>
            </a:r>
            <a:r>
              <a:rPr sz="1500" b="0">
                <a:solidFill>
                  <a:srgbClr val="8B949E"/>
                </a:solidFill>
                <a:latin typeface="Segoe UI"/>
              </a:rPr>
              <a:t>   —   detect  ›  configure  ›  route  ›  capture  ›  save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1995220" cy="84124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852928"/>
            <a:ext cx="17209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Segoe UI Semibold"/>
              </a:rPr>
              <a:t>1  </a:t>
            </a:r>
            <a:r>
              <a:rPr sz="1250" b="1" spc="100">
                <a:solidFill>
                  <a:srgbClr val="E6EDF3"/>
                </a:solidFill>
                <a:latin typeface="Segoe UI Semibold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154680"/>
            <a:ext cx="17209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B949E"/>
                </a:solidFill>
                <a:latin typeface="Segoe UI"/>
              </a:rPr>
              <a:t>scan + match by serial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4172" y="2953512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E7681"/>
                </a:solidFill>
                <a:latin typeface="Segoe U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37052" y="2697480"/>
            <a:ext cx="1995220" cy="84124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3356" y="2852928"/>
            <a:ext cx="17209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Segoe UI Semibold"/>
              </a:rPr>
              <a:t>2  </a:t>
            </a:r>
            <a:r>
              <a:rPr sz="1250" b="1" spc="100">
                <a:solidFill>
                  <a:srgbClr val="E6EDF3"/>
                </a:solidFill>
                <a:latin typeface="Segoe UI Semibold"/>
              </a:rPr>
              <a:t>CONFIGURE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3356" y="3154680"/>
            <a:ext cx="17209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B949E"/>
                </a:solidFill>
                <a:latin typeface="Segoe UI"/>
              </a:rPr>
              <a:t>apply signal_view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3985" y="2953512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E7681"/>
                </a:solidFill>
                <a:latin typeface="Segoe U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6865" y="2697480"/>
            <a:ext cx="1995220" cy="84124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3169" y="2852928"/>
            <a:ext cx="17209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Segoe UI Semibold"/>
              </a:rPr>
              <a:t>3  </a:t>
            </a:r>
            <a:r>
              <a:rPr sz="1250" b="1" spc="100">
                <a:solidFill>
                  <a:srgbClr val="E6EDF3"/>
                </a:solidFill>
                <a:latin typeface="Segoe UI Semibold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3169" y="3154680"/>
            <a:ext cx="17209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B949E"/>
                </a:solidFill>
                <a:latin typeface="Segoe UI"/>
              </a:rPr>
              <a:t>2 AFG channels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3798" y="2953512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E7681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56678" y="2697480"/>
            <a:ext cx="1995220" cy="84124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2982" y="2852928"/>
            <a:ext cx="17209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Segoe UI Semibold"/>
              </a:rPr>
              <a:t>4  </a:t>
            </a:r>
            <a:r>
              <a:rPr sz="1250" b="1" spc="100">
                <a:solidFill>
                  <a:srgbClr val="E6EDF3"/>
                </a:solidFill>
                <a:latin typeface="Segoe UI Semibold"/>
              </a:rPr>
              <a:t>CAPTURE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2982" y="3154680"/>
            <a:ext cx="17209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B949E"/>
                </a:solidFill>
                <a:latin typeface="Segoe UI"/>
              </a:rPr>
              <a:t>free-run + freeze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3611" y="2953512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E7681"/>
                </a:solidFill>
                <a:latin typeface="Segoe U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6491" y="2697480"/>
            <a:ext cx="1995220" cy="84124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2795" y="2852928"/>
            <a:ext cx="17209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Segoe UI Semibold"/>
              </a:rPr>
              <a:t>5  </a:t>
            </a:r>
            <a:r>
              <a:rPr sz="1250" b="1" spc="100">
                <a:solidFill>
                  <a:srgbClr val="E6EDF3"/>
                </a:solidFill>
                <a:latin typeface="Segoe UI Semibold"/>
              </a:rPr>
              <a:t>SAVE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2795" y="3154680"/>
            <a:ext cx="17209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B949E"/>
                </a:solidFill>
                <a:latin typeface="Segoe UI"/>
              </a:rPr>
              <a:t>labeled by alias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977639"/>
            <a:ext cx="3361944" cy="157276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3977639"/>
            <a:ext cx="82296" cy="1572768"/>
          </a:xfrm>
          <a:prstGeom prst="rect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9848" y="4288536"/>
            <a:ext cx="118872" cy="118872"/>
          </a:xfrm>
          <a:prstGeom prst="ellipse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592" y="4215383"/>
            <a:ext cx="2630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6EDF3"/>
                </a:solidFill>
                <a:latin typeface="Consolas"/>
              </a:rPr>
              <a:t>funcgen1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" y="4654296"/>
            <a:ext cx="2813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6EDF3"/>
                </a:solidFill>
                <a:latin typeface="Segoe UI Semibold"/>
              </a:rPr>
              <a:t>Tektronix AFG31102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" y="4965192"/>
            <a:ext cx="2813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7681"/>
                </a:solidFill>
                <a:latin typeface="Consolas"/>
              </a:rPr>
              <a:t>serial B011788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" y="5221224"/>
            <a:ext cx="2813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371F7"/>
                </a:solidFill>
                <a:latin typeface="Segoe UI"/>
              </a:rPr>
              <a:t>stimulus — 2 channels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13504" y="3977639"/>
            <a:ext cx="3361944" cy="157276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13504" y="3977639"/>
            <a:ext cx="82296" cy="15727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06112" y="4288536"/>
            <a:ext cx="118872" cy="11887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43856" y="4215383"/>
            <a:ext cx="2630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6EDF3"/>
                </a:solidFill>
                <a:latin typeface="Consolas"/>
              </a:rPr>
              <a:t>oscope1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6112" y="4654296"/>
            <a:ext cx="2813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6EDF3"/>
                </a:solidFill>
                <a:latin typeface="Segoe UI Semibold"/>
              </a:rPr>
              <a:t>Keysight DSO-X 3034G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6112" y="4965192"/>
            <a:ext cx="2813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7681"/>
                </a:solidFill>
                <a:latin typeface="Consolas"/>
              </a:rPr>
              <a:t>serial MY64520125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6112" y="5221224"/>
            <a:ext cx="2813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2D3EE"/>
                </a:solidFill>
                <a:latin typeface="Segoe UI"/>
              </a:rPr>
              <a:t>capture — CH1 (sine)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9768" y="3977639"/>
            <a:ext cx="3361944" cy="157276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9768" y="3977639"/>
            <a:ext cx="82296" cy="15727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42376" y="4288536"/>
            <a:ext cx="118872" cy="11887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80120" y="4215383"/>
            <a:ext cx="2630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6EDF3"/>
                </a:solidFill>
                <a:latin typeface="Consolas"/>
              </a:rPr>
              <a:t>oscope2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2376" y="4654296"/>
            <a:ext cx="2813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6EDF3"/>
                </a:solidFill>
                <a:latin typeface="Segoe UI Semibold"/>
              </a:rPr>
              <a:t>Tektronix MSO24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2376" y="4965192"/>
            <a:ext cx="2813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7681"/>
                </a:solidFill>
                <a:latin typeface="Consolas"/>
              </a:rPr>
              <a:t>serial C017370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2376" y="5221224"/>
            <a:ext cx="2813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5A623"/>
                </a:solidFill>
                <a:latin typeface="Segoe UI"/>
              </a:rPr>
              <a:t>capture — CH1 (square)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870448"/>
            <a:ext cx="10634472" cy="18288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6035040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150">
                <a:solidFill>
                  <a:srgbClr val="8B949E"/>
                </a:solidFill>
                <a:latin typeface="Segoe UI Semibold"/>
              </a:rPr>
              <a:t>Where the functions come from   </a:t>
            </a:r>
            <a:r>
              <a:rPr sz="1250" b="0">
                <a:solidFill>
                  <a:srgbClr val="8B949E"/>
                </a:solidFill>
                <a:latin typeface="Segoe UI"/>
              </a:rPr>
              <a:t>Every call is </a:t>
            </a:r>
            <a:r>
              <a:rPr sz="1250" b="0">
                <a:solidFill>
                  <a:srgbClr val="22D3EE"/>
                </a:solidFill>
                <a:latin typeface="Consolas"/>
              </a:rPr>
              <a:t>teststand_api</a:t>
            </a:r>
            <a:r>
              <a:rPr sz="1250" b="0">
                <a:solidFill>
                  <a:srgbClr val="8B949E"/>
                </a:solidFill>
                <a:latin typeface="Segoe UI"/>
              </a:rPr>
              <a:t> — one module unifying the oscilloscope + function-generator libraries. All three instruments share SCPI port </a:t>
            </a:r>
            <a:r>
              <a:rPr sz="1250" b="0">
                <a:solidFill>
                  <a:srgbClr val="F5A623"/>
                </a:solidFill>
                <a:latin typeface="Consolas"/>
              </a:rPr>
              <a:t>5025</a:t>
            </a:r>
            <a:r>
              <a:rPr sz="1250" b="0">
                <a:solidFill>
                  <a:srgbClr val="8B949E"/>
                </a:solidFill>
                <a:latin typeface="Segoe UI"/>
              </a:rPr>
              <a:t> on a link-local bench.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60">
                <a:solidFill>
                  <a:srgbClr val="8B949E"/>
                </a:solidFill>
                <a:latin typeface="Segoe UI Semibold"/>
              </a:rPr>
              <a:t>THE SEQUENCE  ·  FUNCTIONS &amp;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DF3"/>
                </a:solidFill>
                <a:latin typeface="Segoe UI Semibold"/>
              </a:rPr>
              <a:t>Every step is one </a:t>
            </a:r>
            <a:r>
              <a:rPr sz="3000" b="1">
                <a:solidFill>
                  <a:srgbClr val="22D3EE"/>
                </a:solidFill>
                <a:latin typeface="Consolas"/>
              </a:rPr>
              <a:t>teststand_api</a:t>
            </a:r>
            <a:r>
              <a:rPr sz="3000" b="1">
                <a:solidFill>
                  <a:srgbClr val="E6EDF3"/>
                </a:solidFill>
                <a:latin typeface="Segoe UI Semibold"/>
              </a:rPr>
              <a:t>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3361944" cy="248716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71" y="2039112"/>
            <a:ext cx="256032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185416"/>
            <a:ext cx="2904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150">
                <a:solidFill>
                  <a:srgbClr val="22D3EE"/>
                </a:solidFill>
                <a:latin typeface="Segoe UI Semibold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624328"/>
            <a:ext cx="29047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6EDF3"/>
                </a:solidFill>
                <a:latin typeface="Consolas"/>
              </a:rPr>
              <a:t>scan_bench(</a:t>
            </a:r>
            <a:r>
              <a:rPr sz="1050" b="0">
                <a:solidFill>
                  <a:srgbClr val="F5A623"/>
                </a:solidFill>
                <a:latin typeface="Consolas"/>
              </a:rPr>
              <a:t>5025</a:t>
            </a:r>
            <a:r>
              <a:rPr sz="1050" b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191256"/>
            <a:ext cx="29047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6EDF3"/>
                </a:solidFill>
                <a:latin typeface="Consolas"/>
              </a:rPr>
              <a:t>connect_matching(</a:t>
            </a:r>
            <a:r>
              <a:rPr sz="1050" b="0">
                <a:solidFill>
                  <a:srgbClr val="E6EDF3"/>
                </a:solidFill>
                <a:latin typeface="Consolas"/>
              </a:rPr>
              <a:t>"oscope1"</a:t>
            </a:r>
            <a:r>
              <a:rPr sz="1050" b="0">
                <a:solidFill>
                  <a:srgbClr val="8B949E"/>
                </a:solidFill>
                <a:latin typeface="Consolas"/>
              </a:rPr>
              <a:t>, </a:t>
            </a:r>
            <a:r>
              <a:rPr sz="1050" b="0">
                <a:solidFill>
                  <a:srgbClr val="3FB950"/>
                </a:solidFill>
                <a:latin typeface="Consolas"/>
              </a:rPr>
              <a:t>"MY64520125"</a:t>
            </a:r>
            <a:r>
              <a:rPr sz="1050" b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758184"/>
            <a:ext cx="29047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6EDF3"/>
                </a:solidFill>
                <a:latin typeface="Consolas"/>
              </a:rPr>
              <a:t>configure_scope(</a:t>
            </a:r>
            <a:r>
              <a:rPr sz="1050" b="0">
                <a:solidFill>
                  <a:srgbClr val="E6EDF3"/>
                </a:solidFill>
                <a:latin typeface="Consolas"/>
              </a:rPr>
              <a:t>"oscope1"</a:t>
            </a:r>
            <a:r>
              <a:rPr sz="1050" b="0">
                <a:solidFill>
                  <a:srgbClr val="8B949E"/>
                </a:solidFill>
                <a:latin typeface="Consolas"/>
              </a:rPr>
              <a:t>, </a:t>
            </a:r>
            <a:r>
              <a:rPr sz="1050" b="0">
                <a:solidFill>
                  <a:srgbClr val="F5A623"/>
                </a:solidFill>
                <a:latin typeface="Consolas"/>
              </a:rPr>
              <a:t>"signal_view"</a:t>
            </a:r>
            <a:r>
              <a:rPr sz="1050" b="0">
                <a:solidFill>
                  <a:srgbClr val="8B949E"/>
                </a:solidFill>
                <a:latin typeface="Consolas"/>
              </a:rPr>
              <a:t>, </a:t>
            </a:r>
            <a:r>
              <a:rPr sz="1050" b="0">
                <a:solidFill>
                  <a:srgbClr val="F5A623"/>
                </a:solidFill>
                <a:latin typeface="Consolas"/>
              </a:rPr>
              <a:t>"1,2"</a:t>
            </a:r>
            <a:r>
              <a:rPr sz="1050" b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3504" y="1783080"/>
            <a:ext cx="3361944" cy="248716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9536" y="2039112"/>
            <a:ext cx="256032" cy="54864"/>
          </a:xfrm>
          <a:prstGeom prst="rect">
            <a:avLst/>
          </a:prstGeom>
          <a:solidFill>
            <a:srgbClr val="A37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9536" y="2185416"/>
            <a:ext cx="2904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150">
                <a:solidFill>
                  <a:srgbClr val="A371F7"/>
                </a:solidFill>
                <a:latin typeface="Segoe UI Semibold"/>
              </a:rPr>
              <a:t>MAIN —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9536" y="2624328"/>
            <a:ext cx="29047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6EDF3"/>
                </a:solidFill>
                <a:latin typeface="Consolas"/>
              </a:rPr>
              <a:t>set_function_gen_waveform(</a:t>
            </a:r>
            <a:r>
              <a:rPr sz="1050" b="0">
                <a:solidFill>
                  <a:srgbClr val="E6EDF3"/>
                </a:solidFill>
                <a:latin typeface="Consolas"/>
              </a:rPr>
              <a:t>"funcgen1"</a:t>
            </a:r>
            <a:r>
              <a:rPr sz="1050" b="0">
                <a:solidFill>
                  <a:srgbClr val="8B949E"/>
                </a:solidFill>
                <a:latin typeface="Consolas"/>
              </a:rPr>
              <a:t>, </a:t>
            </a:r>
            <a:r>
              <a:rPr sz="1050" b="0">
                <a:solidFill>
                  <a:srgbClr val="F5A623"/>
                </a:solidFill>
                <a:latin typeface="Consolas"/>
              </a:rPr>
              <a:t>1</a:t>
            </a:r>
            <a:r>
              <a:rPr sz="1050" b="0">
                <a:solidFill>
                  <a:srgbClr val="8B949E"/>
                </a:solidFill>
                <a:latin typeface="Consolas"/>
              </a:rPr>
              <a:t>, </a:t>
            </a:r>
            <a:r>
              <a:rPr sz="1050" b="0">
                <a:solidFill>
                  <a:srgbClr val="3FB950"/>
                </a:solidFill>
                <a:latin typeface="Consolas"/>
              </a:rPr>
              <a:t>"SIN"</a:t>
            </a:r>
            <a:r>
              <a:rPr sz="1050" b="0">
                <a:solidFill>
                  <a:srgbClr val="8B949E"/>
                </a:solidFill>
                <a:latin typeface="Consolas"/>
              </a:rPr>
              <a:t>, </a:t>
            </a:r>
            <a:r>
              <a:rPr sz="1050" b="0">
                <a:solidFill>
                  <a:srgbClr val="F5A623"/>
                </a:solidFill>
                <a:latin typeface="Consolas"/>
              </a:rPr>
              <a:t>1000</a:t>
            </a:r>
            <a:r>
              <a:rPr sz="1050" b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9536" y="3191256"/>
            <a:ext cx="29047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6EDF3"/>
                </a:solidFill>
                <a:latin typeface="Consolas"/>
              </a:rPr>
              <a:t>set_function_gen_waveform(</a:t>
            </a:r>
            <a:r>
              <a:rPr sz="1050" b="0">
                <a:solidFill>
                  <a:srgbClr val="E6EDF3"/>
                </a:solidFill>
                <a:latin typeface="Consolas"/>
              </a:rPr>
              <a:t>"funcgen1"</a:t>
            </a:r>
            <a:r>
              <a:rPr sz="1050" b="0">
                <a:solidFill>
                  <a:srgbClr val="8B949E"/>
                </a:solidFill>
                <a:latin typeface="Consolas"/>
              </a:rPr>
              <a:t>, </a:t>
            </a:r>
            <a:r>
              <a:rPr sz="1050" b="0">
                <a:solidFill>
                  <a:srgbClr val="F5A623"/>
                </a:solidFill>
                <a:latin typeface="Consolas"/>
              </a:rPr>
              <a:t>2</a:t>
            </a:r>
            <a:r>
              <a:rPr sz="1050" b="0">
                <a:solidFill>
                  <a:srgbClr val="8B949E"/>
                </a:solidFill>
                <a:latin typeface="Consolas"/>
              </a:rPr>
              <a:t>, </a:t>
            </a:r>
            <a:r>
              <a:rPr sz="1050" b="0">
                <a:solidFill>
                  <a:srgbClr val="3FB950"/>
                </a:solidFill>
                <a:latin typeface="Consolas"/>
              </a:rPr>
              <a:t>"SQU"</a:t>
            </a:r>
            <a:r>
              <a:rPr sz="1050" b="0">
                <a:solidFill>
                  <a:srgbClr val="8B949E"/>
                </a:solidFill>
                <a:latin typeface="Consolas"/>
              </a:rPr>
              <a:t>, </a:t>
            </a:r>
            <a:r>
              <a:rPr sz="1050" b="0">
                <a:solidFill>
                  <a:srgbClr val="F5A623"/>
                </a:solidFill>
                <a:latin typeface="Consolas"/>
              </a:rPr>
              <a:t>1000</a:t>
            </a:r>
            <a:r>
              <a:rPr sz="1050" b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3758184"/>
            <a:ext cx="29047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6EDF3"/>
                </a:solidFill>
                <a:latin typeface="Consolas"/>
              </a:rPr>
              <a:t>function_gen_output_on(</a:t>
            </a:r>
            <a:r>
              <a:rPr sz="1050" b="0">
                <a:solidFill>
                  <a:srgbClr val="E6EDF3"/>
                </a:solidFill>
                <a:latin typeface="Consolas"/>
              </a:rPr>
              <a:t>"funcgen1"</a:t>
            </a:r>
            <a:r>
              <a:rPr sz="1050" b="0">
                <a:solidFill>
                  <a:srgbClr val="8B949E"/>
                </a:solidFill>
                <a:latin typeface="Consolas"/>
              </a:rPr>
              <a:t>, </a:t>
            </a:r>
            <a:r>
              <a:rPr sz="1050" b="0">
                <a:solidFill>
                  <a:srgbClr val="F5A623"/>
                </a:solidFill>
                <a:latin typeface="Consolas"/>
              </a:rPr>
              <a:t>1</a:t>
            </a:r>
            <a:r>
              <a:rPr sz="1050" b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83080"/>
            <a:ext cx="3361944" cy="248716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5800" y="2039112"/>
            <a:ext cx="256032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185416"/>
            <a:ext cx="2904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150">
                <a:solidFill>
                  <a:srgbClr val="F5A623"/>
                </a:solidFill>
                <a:latin typeface="Segoe UI Semibold"/>
              </a:rPr>
              <a:t>CAPTURE + SAVE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624328"/>
            <a:ext cx="29047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6EDF3"/>
                </a:solidFill>
                <a:latin typeface="Consolas"/>
              </a:rPr>
              <a:t>capture_scope(</a:t>
            </a:r>
            <a:r>
              <a:rPr sz="1050" b="0">
                <a:solidFill>
                  <a:srgbClr val="E6EDF3"/>
                </a:solidFill>
                <a:latin typeface="Consolas"/>
              </a:rPr>
              <a:t>"oscope1"</a:t>
            </a:r>
            <a:r>
              <a:rPr sz="1050" b="0">
                <a:solidFill>
                  <a:srgbClr val="8B949E"/>
                </a:solidFill>
                <a:latin typeface="Consolas"/>
              </a:rPr>
              <a:t>, </a:t>
            </a:r>
            <a:r>
              <a:rPr sz="1050" b="0">
                <a:solidFill>
                  <a:srgbClr val="F5A623"/>
                </a:solidFill>
                <a:latin typeface="Consolas"/>
              </a:rPr>
              <a:t>"1"</a:t>
            </a:r>
            <a:r>
              <a:rPr sz="1050" b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3191256"/>
            <a:ext cx="29047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6EDF3"/>
                </a:solidFill>
                <a:latin typeface="Consolas"/>
              </a:rPr>
              <a:t>scope_rms(</a:t>
            </a:r>
            <a:r>
              <a:rPr sz="1050" b="0">
                <a:solidFill>
                  <a:srgbClr val="E6EDF3"/>
                </a:solidFill>
                <a:latin typeface="Consolas"/>
              </a:rPr>
              <a:t>"oscope1"</a:t>
            </a:r>
            <a:r>
              <a:rPr sz="1050" b="0">
                <a:solidFill>
                  <a:srgbClr val="8B949E"/>
                </a:solidFill>
                <a:latin typeface="Consolas"/>
              </a:rPr>
              <a:t>, </a:t>
            </a:r>
            <a:r>
              <a:rPr sz="1050" b="0">
                <a:solidFill>
                  <a:srgbClr val="F5A623"/>
                </a:solidFill>
                <a:latin typeface="Consolas"/>
              </a:rPr>
              <a:t>1</a:t>
            </a:r>
            <a:r>
              <a:rPr sz="1050" b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3758184"/>
            <a:ext cx="29047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E6EDF3"/>
                </a:solidFill>
                <a:latin typeface="Consolas"/>
              </a:rPr>
              <a:t>save_scope_png(</a:t>
            </a:r>
            <a:r>
              <a:rPr sz="1050" b="0">
                <a:solidFill>
                  <a:srgbClr val="E6EDF3"/>
                </a:solidFill>
                <a:latin typeface="Consolas"/>
              </a:rPr>
              <a:t>"oscope1"</a:t>
            </a:r>
            <a:r>
              <a:rPr sz="1050" b="0">
                <a:solidFill>
                  <a:srgbClr val="8B949E"/>
                </a:solidFill>
                <a:latin typeface="Consolas"/>
              </a:rPr>
              <a:t>, </a:t>
            </a:r>
            <a:r>
              <a:rPr sz="1050" b="0">
                <a:solidFill>
                  <a:srgbClr val="3FB950"/>
                </a:solidFill>
                <a:latin typeface="Consolas"/>
              </a:rPr>
              <a:t>"ch1.png"</a:t>
            </a:r>
            <a:r>
              <a:rPr sz="1050" b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709160"/>
            <a:ext cx="10634472" cy="1371600"/>
          </a:xfrm>
          <a:prstGeom prst="roundRect">
            <a:avLst>
              <a:gd name="adj" fmla="val 6000"/>
            </a:avLst>
          </a:prstGeom>
          <a:solidFill>
            <a:srgbClr val="1C23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9103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00">
                <a:solidFill>
                  <a:srgbClr val="8B949E"/>
                </a:solidFill>
                <a:latin typeface="Segoe UI Semibold"/>
              </a:rPr>
              <a:t>SIGNAL 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2760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49E"/>
                </a:solidFill>
                <a:latin typeface="Segoe UI"/>
              </a:rPr>
              <a:t>AFG </a:t>
            </a:r>
            <a:r>
              <a:rPr sz="1300" b="1">
                <a:solidFill>
                  <a:srgbClr val="A371F7"/>
                </a:solidFill>
                <a:latin typeface="Consolas"/>
              </a:rPr>
              <a:t>CH1</a:t>
            </a:r>
            <a:r>
              <a:rPr sz="1400" b="0">
                <a:solidFill>
                  <a:srgbClr val="E6EDF3"/>
                </a:solidFill>
                <a:latin typeface="Segoe UI"/>
              </a:rPr>
              <a:t>   </a:t>
            </a:r>
            <a:r>
              <a:rPr sz="1250" b="0">
                <a:solidFill>
                  <a:srgbClr val="22D3EE"/>
                </a:solidFill>
                <a:latin typeface="Segoe UI Semibold"/>
              </a:rPr>
              <a:t>SIN · 1 kHz · 10 Vpp · 5 V offset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276088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6E7681"/>
                </a:solidFill>
                <a:latin typeface="Segoe UI"/>
              </a:rPr>
              <a:t>──────►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527608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Consolas"/>
              </a:rPr>
              <a:t>oscope1</a:t>
            </a:r>
            <a:r>
              <a:rPr sz="1300" b="0">
                <a:solidFill>
                  <a:srgbClr val="8B949E"/>
                </a:solidFill>
                <a:latin typeface="Segoe UI"/>
              </a:rPr>
              <a:t>  CH1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64184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49E"/>
                </a:solidFill>
                <a:latin typeface="Segoe UI"/>
              </a:rPr>
              <a:t>AFG </a:t>
            </a:r>
            <a:r>
              <a:rPr sz="1300" b="1">
                <a:solidFill>
                  <a:srgbClr val="A371F7"/>
                </a:solidFill>
                <a:latin typeface="Consolas"/>
              </a:rPr>
              <a:t>CH2</a:t>
            </a:r>
            <a:r>
              <a:rPr sz="1400" b="0">
                <a:solidFill>
                  <a:srgbClr val="E6EDF3"/>
                </a:solidFill>
                <a:latin typeface="Segoe UI"/>
              </a:rPr>
              <a:t>   </a:t>
            </a:r>
            <a:r>
              <a:rPr sz="1250" b="0">
                <a:solidFill>
                  <a:srgbClr val="F5A623"/>
                </a:solidFill>
                <a:latin typeface="Segoe UI Semibold"/>
              </a:rPr>
              <a:t>SQU · 1 kHz · 10 Vpp · 5 V offset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641848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6E7681"/>
                </a:solidFill>
                <a:latin typeface="Segoe UI"/>
              </a:rPr>
              <a:t>──────►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564184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623"/>
                </a:solidFill>
                <a:latin typeface="Consolas"/>
              </a:rPr>
              <a:t>oscope2</a:t>
            </a:r>
            <a:r>
              <a:rPr sz="1300" b="0">
                <a:solidFill>
                  <a:srgbClr val="8B949E"/>
                </a:solidFill>
                <a:latin typeface="Segoe UI"/>
              </a:rPr>
              <a:t>  CH1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327648"/>
            <a:ext cx="1063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D3EE"/>
                </a:solidFill>
                <a:latin typeface="Consolas"/>
              </a:rPr>
              <a:t>scope_* </a:t>
            </a:r>
            <a:r>
              <a:rPr sz="1050" b="0">
                <a:solidFill>
                  <a:srgbClr val="6E7681"/>
                </a:solidFill>
                <a:latin typeface="Segoe UI"/>
              </a:rPr>
              <a:t>calls route to the oscilloscope library · </a:t>
            </a:r>
            <a:r>
              <a:rPr sz="1050" b="0">
                <a:solidFill>
                  <a:srgbClr val="A371F7"/>
                </a:solidFill>
                <a:latin typeface="Consolas"/>
              </a:rPr>
              <a:t>function_gen_* </a:t>
            </a:r>
            <a:r>
              <a:rPr sz="1050" b="0">
                <a:solidFill>
                  <a:srgbClr val="6E7681"/>
                </a:solidFill>
                <a:latin typeface="Segoe UI"/>
              </a:rPr>
              <a:t>calls route to the function-generator library — same module, chosen by *IDN?.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60">
                <a:solidFill>
                  <a:srgbClr val="8B949E"/>
                </a:solidFill>
                <a:latin typeface="Segoe UI Semibold"/>
              </a:rPr>
              <a:t>RESULTS  ·  CAPTURED &amp; 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DF3"/>
                </a:solidFill>
                <a:latin typeface="Segoe UI Semibold"/>
              </a:rPr>
              <a:t>Two signals in, two labeled captures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48495" y="932688"/>
            <a:ext cx="1965960" cy="566928"/>
          </a:xfrm>
          <a:prstGeom prst="roundRect">
            <a:avLst>
              <a:gd name="adj" fmla="val 6000"/>
            </a:avLst>
          </a:prstGeom>
          <a:solidFill>
            <a:srgbClr val="0E2A18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48495" y="932688"/>
            <a:ext cx="1965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3FB950"/>
                </a:solidFill>
                <a:latin typeface="Segoe UI"/>
              </a:rPr>
              <a:t>●  </a:t>
            </a:r>
            <a:r>
              <a:rPr sz="1250" b="1">
                <a:solidFill>
                  <a:srgbClr val="3FB950"/>
                </a:solidFill>
                <a:latin typeface="Segoe UI Semibold"/>
              </a:rPr>
              <a:t>BENCH RESULT: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5230368" cy="3414369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1" y="2130552"/>
            <a:ext cx="118872" cy="11887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048255"/>
            <a:ext cx="4315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6EDF3"/>
                </a:solidFill>
                <a:latin typeface="Consolas"/>
              </a:rPr>
              <a:t>oscope1</a:t>
            </a:r>
            <a:r>
              <a:rPr sz="1200" b="0">
                <a:solidFill>
                  <a:srgbClr val="22D3EE"/>
                </a:solidFill>
                <a:latin typeface="Segoe UI"/>
              </a:rPr>
              <a:t>   Keysight · sine</a:t>
            </a:r>
          </a:p>
        </p:txBody>
      </p:sp>
      <p:pic>
        <p:nvPicPr>
          <p:cNvPr id="11" name="Picture 10" descr="oscope1_c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441448"/>
            <a:ext cx="4901184" cy="25062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6695" y="4756708"/>
            <a:ext cx="4864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6EDF3"/>
                </a:solidFill>
                <a:latin typeface="Consolas"/>
              </a:rPr>
              <a:t>986 pts   Vpp 10.15 V   RMS 6.14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" y="5031028"/>
            <a:ext cx="4864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B949E"/>
                </a:solidFill>
                <a:latin typeface="Segoe UI"/>
              </a:rPr>
              <a:t>configure 15/15 verified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874519"/>
            <a:ext cx="5230368" cy="3414369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2130552"/>
            <a:ext cx="118872" cy="11887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2048255"/>
            <a:ext cx="4315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6EDF3"/>
                </a:solidFill>
                <a:latin typeface="Consolas"/>
              </a:rPr>
              <a:t>oscope2</a:t>
            </a:r>
            <a:r>
              <a:rPr sz="1200" b="0">
                <a:solidFill>
                  <a:srgbClr val="F5A623"/>
                </a:solidFill>
                <a:latin typeface="Segoe UI"/>
              </a:rPr>
              <a:t>   Tek MSO24 · square</a:t>
            </a:r>
          </a:p>
        </p:txBody>
      </p:sp>
      <p:pic>
        <p:nvPicPr>
          <p:cNvPr id="17" name="Picture 16" descr="oscope2_ch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441448"/>
            <a:ext cx="4901184" cy="25062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0" y="4756708"/>
            <a:ext cx="4864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6EDF3"/>
                </a:solidFill>
                <a:latin typeface="Consolas"/>
              </a:rPr>
              <a:t>10 000 pts   Vpp 10.30 V   RMS 7.19 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031028"/>
            <a:ext cx="4864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B949E"/>
                </a:solidFill>
                <a:latin typeface="Segoe UI"/>
              </a:rPr>
              <a:t>configure 13/15 (timebase quantized)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806440"/>
            <a:ext cx="10634472" cy="658368"/>
          </a:xfrm>
          <a:prstGeom prst="roundRect">
            <a:avLst>
              <a:gd name="adj" fmla="val 6000"/>
            </a:avLst>
          </a:prstGeom>
          <a:solidFill>
            <a:srgbClr val="1C232E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806440"/>
            <a:ext cx="2743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00">
                <a:solidFill>
                  <a:srgbClr val="8B949E"/>
                </a:solidFill>
                <a:latin typeface="Segoe UI Semibold"/>
              </a:rPr>
              <a:t>SAVED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806440"/>
            <a:ext cx="9144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E7681"/>
                </a:solidFill>
                <a:latin typeface="Consolas"/>
              </a:rPr>
              <a:t>results/</a:t>
            </a:r>
            <a:r>
              <a:rPr sz="1200" b="0">
                <a:solidFill>
                  <a:srgbClr val="22D3EE"/>
                </a:solidFill>
                <a:latin typeface="Consolas"/>
              </a:rPr>
              <a:t>oscope1_ch1</a:t>
            </a:r>
            <a:r>
              <a:rPr sz="1200" b="0">
                <a:solidFill>
                  <a:srgbClr val="6E7681"/>
                </a:solidFill>
                <a:latin typeface="Consolas"/>
              </a:rPr>
              <a:t>.{png,csv}      </a:t>
            </a:r>
            <a:r>
              <a:rPr sz="1200" b="0">
                <a:solidFill>
                  <a:srgbClr val="6E7681"/>
                </a:solidFill>
                <a:latin typeface="Consolas"/>
              </a:rPr>
              <a:t>results/</a:t>
            </a:r>
            <a:r>
              <a:rPr sz="1200" b="0">
                <a:solidFill>
                  <a:srgbClr val="F5A623"/>
                </a:solidFill>
                <a:latin typeface="Consolas"/>
              </a:rPr>
              <a:t>oscope2_ch1</a:t>
            </a:r>
            <a:r>
              <a:rPr sz="1200" b="0">
                <a:solidFill>
                  <a:srgbClr val="6E7681"/>
                </a:solidFill>
                <a:latin typeface="Consolas"/>
              </a:rPr>
              <a:t>.{png,csv}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