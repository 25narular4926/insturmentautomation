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Bench setup - do this once before any use case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Arial"/>
              </a:rPr>
              <a:t>Three instruments on a link-local HIL bench, all reached over SCPI port 5025.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555555"/>
                </a:solidFill>
                <a:latin typeface="Arial"/>
              </a:rPr>
              <a:t>PHYSICAL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972800" cy="1745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dirty="0">
                <a:solidFill>
                  <a:srgbClr val="000000"/>
                </a:solidFill>
                <a:latin typeface="Arial"/>
              </a:rPr>
              <a:t>1.  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With every instrument powered OFF, connect each one to the Ethernet switch, then connect the switch into the HIL bench network.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dirty="0">
                <a:solidFill>
                  <a:srgbClr val="000000"/>
                </a:solidFill>
                <a:latin typeface="Arial"/>
              </a:rPr>
              <a:t>2.  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Power on the instruments.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 dirty="0">
                <a:solidFill>
                  <a:srgbClr val="000000"/>
                </a:solidFill>
                <a:latin typeface="Arial"/>
              </a:rPr>
              <a:t>3.  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On the Tektronix oscilloscope, set the Socket Server to Terminal mode on port </a:t>
            </a:r>
            <a:r>
              <a:rPr sz="1500" b="1" dirty="0">
                <a:solidFill>
                  <a:srgbClr val="000000"/>
                </a:solidFill>
                <a:latin typeface="Consolas"/>
              </a:rPr>
              <a:t>5025</a:t>
            </a:r>
            <a:r>
              <a:rPr sz="1500" b="0" dirty="0">
                <a:solidFill>
                  <a:srgbClr val="000000"/>
                </a:solidFill>
                <a:latin typeface="Arial"/>
              </a:rPr>
              <a:t>  (Utility -&gt; I/O -&gt; Socket Server). The Keysight scope and the AFG already use 5025.</a:t>
            </a:r>
            <a:endParaRPr lang="en-US" sz="1500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lang="en-US" sz="1500" b="1" dirty="0">
                <a:solidFill>
                  <a:srgbClr val="000000"/>
                </a:solidFill>
                <a:latin typeface="Arial"/>
              </a:rPr>
              <a:t>4. </a:t>
            </a:r>
            <a:r>
              <a:rPr lang="en-US" sz="1500" dirty="0">
                <a:solidFill>
                  <a:srgbClr val="000000"/>
                </a:solidFill>
                <a:latin typeface="Arial"/>
              </a:rPr>
              <a:t>On all devices set the Subnet Mask to 255.255.0.0</a:t>
            </a:r>
            <a:endParaRPr lang="en-US" sz="15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555555"/>
                </a:solidFill>
                <a:latin typeface="Arial"/>
              </a:rPr>
              <a:t>SOFTWARE BRING-UP  (Python / TestStand)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79392"/>
            <a:ext cx="1097280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000000"/>
                </a:solidFill>
                <a:latin typeface="Consolas"/>
              </a:rPr>
              <a:t>import teststand_api as ts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endParaRPr sz="1350" b="0">
              <a:solidFill>
                <a:srgbClr val="000000"/>
              </a:solidFill>
              <a:latin typeface="Consolas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000000"/>
                </a:solidFill>
                <a:latin typeface="Consolas"/>
              </a:rPr>
              <a:t>ts.detect_bench(5025)          # find + open every instrument on port 5025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000000"/>
                </a:solidFill>
                <a:latin typeface="Consolas"/>
              </a:rPr>
              <a:t>                               # -&gt; ["oscope1", "oscope2", "funcgen1"]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dirty="0" err="1">
                <a:solidFill>
                  <a:srgbClr val="555555"/>
                </a:solidFill>
                <a:latin typeface="Consolas"/>
              </a:rPr>
              <a:t>detect_bench</a:t>
            </a:r>
            <a:r>
              <a:rPr sz="1350" b="0" dirty="0">
                <a:solidFill>
                  <a:srgbClr val="555555"/>
                </a:solidFill>
                <a:latin typeface="Arial"/>
              </a:rPr>
              <a:t> identifies each instrument by *IDN? and opens it with the right driver. To target one device by serial instead, use </a:t>
            </a:r>
            <a:r>
              <a:rPr sz="1350" b="0" dirty="0" err="1">
                <a:solidFill>
                  <a:srgbClr val="555555"/>
                </a:solidFill>
                <a:latin typeface="Consolas"/>
              </a:rPr>
              <a:t>connect_matching</a:t>
            </a:r>
            <a:r>
              <a:rPr sz="1350" b="0" dirty="0">
                <a:solidFill>
                  <a:srgbClr val="555555"/>
                </a:solidFill>
                <a:latin typeface="Consolas"/>
              </a:rPr>
              <a:t>("oscope1", "MY64520125", 5025)</a:t>
            </a:r>
            <a:r>
              <a:rPr sz="1350" b="0" dirty="0">
                <a:solidFill>
                  <a:srgbClr val="555555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Use case 1 - RMS voltage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555555"/>
                </a:solidFill>
                <a:latin typeface="Arial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6420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Measure the true RMS voltage of a signal on a scope channel.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9572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555555"/>
                </a:solidFill>
                <a:latin typeface="Arial"/>
              </a:rPr>
              <a:t>STEPS  (after the bench setup)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24912"/>
            <a:ext cx="10972800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000000"/>
                </a:solidFill>
                <a:latin typeface="Consolas"/>
              </a:rPr>
              <a:t>ts.connect_matching("oscope1", "MY64520125", 5025)     # the Keysight scope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000000"/>
                </a:solidFill>
                <a:latin typeface="Consolas"/>
              </a:rPr>
              <a:t>ts.configure_scope("oscope1", "signal_view", "1")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000000"/>
                </a:solidFill>
                <a:latin typeface="Consolas"/>
              </a:rPr>
              <a:t>ts.set_function_gen_waveform("funcgen1", 1, "SIN", 1000, 10, 5)  # 1 kHz sine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000000"/>
                </a:solidFill>
                <a:latin typeface="Consolas"/>
              </a:rPr>
              <a:t>ts.function_gen_output_on("funcgen1", 1)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000000"/>
                </a:solidFill>
                <a:latin typeface="Consolas"/>
              </a:rPr>
              <a:t>ts.capture_scope("oscope1", "1")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000000"/>
                </a:solidFill>
                <a:latin typeface="Consolas"/>
              </a:rPr>
              <a:t>rms = ts.scope_rms("oscope1",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2861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555555"/>
                </a:solidFill>
                <a:latin typeface="Arial"/>
              </a:rPr>
              <a:t>EXPECTED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39512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200" b="0">
                <a:solidFill>
                  <a:srgbClr val="000000"/>
                </a:solidFill>
                <a:latin typeface="Consolas"/>
              </a:rPr>
              <a:t>rms  =  </a:t>
            </a:r>
            <a:r>
              <a:rPr sz="2200" b="1">
                <a:solidFill>
                  <a:srgbClr val="000000"/>
                </a:solidFill>
                <a:latin typeface="Consolas"/>
              </a:rPr>
              <a:t>6.14 V</a:t>
            </a:r>
            <a:r>
              <a:rPr sz="1500" b="0">
                <a:solidFill>
                  <a:srgbClr val="555555"/>
                </a:solidFill>
                <a:latin typeface="Arial"/>
              </a:rPr>
              <a:t>      true RMS of the 0-10 V, 1 kHz sine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Use case 2 - Pulse width (positive &amp; negative)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555555"/>
                </a:solidFill>
                <a:latin typeface="Arial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6420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Measure how long a square / pulse signal stays high and how long it stays 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9572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555555"/>
                </a:solidFill>
                <a:latin typeface="Arial"/>
              </a:rPr>
              <a:t>STEPS  (after the bench setup)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24912"/>
            <a:ext cx="10972800" cy="2125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000000"/>
                </a:solidFill>
                <a:latin typeface="Consolas"/>
              </a:rPr>
              <a:t>ts.connect_matching("oscope2", "MSO24", 5025)          # the Tektronix MSO24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000000"/>
                </a:solidFill>
                <a:latin typeface="Consolas"/>
              </a:rPr>
              <a:t>ts.configure_scope("oscope2", "signal_view", "1")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000000"/>
                </a:solidFill>
                <a:latin typeface="Consolas"/>
              </a:rPr>
              <a:t>ts.set_function_gen_waveform("funcgen1", 2, "SQU", 1000, 10, 5)  # 1 kHz square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000000"/>
                </a:solidFill>
                <a:latin typeface="Consolas"/>
              </a:rPr>
              <a:t>ts.function_gen_output_on("funcgen1", 2)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000000"/>
                </a:solidFill>
                <a:latin typeface="Consolas"/>
              </a:rPr>
              <a:t>ts.capture_scope("oscope2", "1")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000000"/>
                </a:solidFill>
                <a:latin typeface="Consolas"/>
              </a:rPr>
              <a:t>pos = ts.scope_pulse_width("oscope2", 1)            # high time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000000"/>
                </a:solidFill>
                <a:latin typeface="Consolas"/>
              </a:rPr>
              <a:t>neg = ts.scope_pulse_width_negative("oscope2", 1)   # low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6652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555555"/>
                </a:solidFill>
                <a:latin typeface="Arial"/>
              </a:rPr>
              <a:t>EXPECTED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27548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100" b="0">
                <a:solidFill>
                  <a:srgbClr val="000000"/>
                </a:solidFill>
                <a:latin typeface="Consolas"/>
              </a:rPr>
              <a:t>pos = </a:t>
            </a:r>
            <a:r>
              <a:rPr sz="2100" b="1">
                <a:solidFill>
                  <a:srgbClr val="000000"/>
                </a:solidFill>
                <a:latin typeface="Consolas"/>
              </a:rPr>
              <a:t>0.500 ms</a:t>
            </a:r>
            <a:r>
              <a:rPr sz="2100" b="0">
                <a:solidFill>
                  <a:srgbClr val="000000"/>
                </a:solidFill>
                <a:latin typeface="Consolas"/>
              </a:rPr>
              <a:t>       neg = </a:t>
            </a:r>
            <a:r>
              <a:rPr sz="2100" b="1">
                <a:solidFill>
                  <a:srgbClr val="000000"/>
                </a:solidFill>
                <a:latin typeface="Consolas"/>
              </a:rPr>
              <a:t>0.500 ms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555555"/>
                </a:solidFill>
                <a:latin typeface="Arial"/>
              </a:rPr>
              <a:t>period = 1.000 ms,  50% duty  (a 1 kHz square)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800" b="1">
                <a:solidFill>
                  <a:srgbClr val="000000"/>
                </a:solidFill>
                <a:latin typeface="Arial"/>
              </a:rPr>
              <a:t>Use case 3 - Capture and save the waveform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555555"/>
                </a:solidFill>
                <a:latin typeface="Arial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64208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Capture a channel and save the waveform to CSV + PNG, labeled by scope name.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9572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555555"/>
                </a:solidFill>
                <a:latin typeface="Arial"/>
              </a:rPr>
              <a:t>STEPS  (after the bench setup)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24912"/>
            <a:ext cx="5394960" cy="2414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ts.connect_matching("oscope1",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                    "MY64520125", 5025)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ts.configure_scope("oscope1",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                   "signal_view", "1")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# drive a 1 kHz sine on funcgen1 CH1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ts.capture_scope("oscope1", "1")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ts.save_scope_csv("oscope1", "ch1.csv")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ts.save_scope_png("oscope1", "ch1.png")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395728"/>
            <a:ext cx="5257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555555"/>
                </a:solidFill>
                <a:latin typeface="Arial"/>
              </a:rPr>
              <a:t>EXPECTED RESULT</a:t>
            </a:r>
          </a:p>
        </p:txBody>
      </p:sp>
      <p:pic>
        <p:nvPicPr>
          <p:cNvPr id="8" name="Picture 7" descr="oscope1_c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743200"/>
            <a:ext cx="5257800" cy="26885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5218938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000000"/>
                </a:solidFill>
                <a:latin typeface="Consolas"/>
              </a:rPr>
              <a:t>oscope1_ch1.png</a:t>
            </a:r>
            <a:r>
              <a:rPr sz="1300" b="0">
                <a:solidFill>
                  <a:srgbClr val="555555"/>
                </a:solidFill>
                <a:latin typeface="Arial"/>
              </a:rPr>
              <a:t>   986 pts, Vpp 10.15 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555555"/>
                </a:solidFill>
                <a:latin typeface="Arial"/>
              </a:rPr>
              <a:t>Saved to </a:t>
            </a:r>
            <a:r>
              <a:rPr sz="1350" b="0">
                <a:solidFill>
                  <a:srgbClr val="555555"/>
                </a:solidFill>
                <a:latin typeface="Consolas"/>
              </a:rPr>
              <a:t>results/oscope1_ch1.png</a:t>
            </a:r>
            <a:r>
              <a:rPr sz="1350" b="0">
                <a:solidFill>
                  <a:srgbClr val="555555"/>
                </a:solidFill>
                <a:latin typeface="Arial"/>
              </a:rPr>
              <a:t> and </a:t>
            </a:r>
            <a:r>
              <a:rPr sz="1350" b="0">
                <a:solidFill>
                  <a:srgbClr val="555555"/>
                </a:solidFill>
                <a:latin typeface="Consolas"/>
              </a:rPr>
              <a:t>results/oscope1_ch1.csv</a:t>
            </a:r>
            <a:r>
              <a:rPr sz="1350" b="0">
                <a:solidFill>
                  <a:srgbClr val="555555"/>
                </a:solidFill>
                <a:latin typeface="Arial"/>
              </a:rPr>
              <a:t> - the scope alias is written into both the file name and the plot title.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670</Words>
  <Application>Microsoft Office PowerPoint</Application>
  <PresentationFormat>Widescreen</PresentationFormat>
  <Paragraphs>54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Narula, Ritvik</cp:lastModifiedBy>
  <cp:revision>2</cp:revision>
  <dcterms:created xsi:type="dcterms:W3CDTF">2013-01-27T09:14:16Z</dcterms:created>
  <dcterms:modified xsi:type="dcterms:W3CDTF">2026-07-29T19:56:36Z</dcterms:modified>
  <cp:category/>
</cp:coreProperties>
</file>