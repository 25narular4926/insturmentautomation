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348" r:id="rId5"/>
    <p:sldId id="2350" r:id="rId6"/>
    <p:sldId id="2351" r:id="rId7"/>
    <p:sldId id="2352" r:id="rId8"/>
    <p:sldId id="2353" r:id="rId9"/>
    <p:sldId id="2354" r:id="rId10"/>
    <p:sldId id="2355" r:id="rId11"/>
    <p:sldId id="2356" r:id="rId12"/>
    <p:sldId id="29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063C2A-EF9D-4462-6305-4D69EC025F14}" name="Rohit Khedkar" initials="RK" userId="S::rohitk2@kpit.com::8d27a1e9-27af-4d84-b7eb-ff379611828b" providerId="AD"/>
  <p188:author id="{66DD60D1-EA4A-43EB-4FF4-B9C6DBEDC4B2}" name="Ashish Lodhi" initials="AL" userId="S::ashishl3@kpit.com::3d2c1ce4-acb9-47e6-ab22-53848e5170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0794D-9E4F-4F01-AF78-06C74076988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53E4C-C0CF-43B7-AEC6-D43BD9C83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9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9CE82D-71C1-40BB-9F9F-BFC8B0CAA1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68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C6AB9-8AB9-4FE9-8C42-F0F32AFF10C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1BD3412-DEF9-44A0-9B0F-B078B92B27FC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2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24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244682"/>
            <a:ext cx="11117083" cy="553998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5F48B4-034F-44E8-ACAE-2459DB9D4179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04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1" y="1041188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4EAAC-FB47-49ED-97B6-A5D15BB5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6C3858A-C108-4466-A331-16AF362AE1DA}" type="datetime1">
              <a:rPr lang="en-US" smtClean="0"/>
              <a:t>8/10/2026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5F111-8597-4705-A658-A748EE2E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2793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1" y="1041188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4EAAC-FB47-49ED-97B6-A5D15BB5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D6BA8E-A42E-4F6C-8D6D-63D7E180E9D6}" type="datetime1">
              <a:rPr lang="en-US" smtClean="0"/>
              <a:t>8/10/2026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5F111-8597-4705-A658-A748EE2E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36575" y="1641353"/>
            <a:ext cx="11117263" cy="4313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36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6BACF-7090-44BF-97BE-663BB3AB658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CC3E283-2638-4D30-BEFB-EA82F4D71BE5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7A4BB-C49F-46C1-BC09-CB54BF7D332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7CD851-88CA-4B66-B127-8E6BFAD2CE2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67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55088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7" y="351741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3" y="157958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B7C1B9-2095-4997-AB3E-0290BD55F2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012" y="769976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93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6286500" y="55088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6499" y="351741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6582054" y="157958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8228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266924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7" y="563577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3" y="369794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1248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6286500" y="266924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6499" y="563577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6582054" y="369794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BB6D16-F747-419C-9060-5243FEE6BAC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2055" y="3035642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63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2874982"/>
            <a:ext cx="5976937" cy="2729847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8" y="5680970"/>
            <a:ext cx="4564758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4" y="3903682"/>
            <a:ext cx="5452036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E5CC6E-16C7-4467-A9C0-AC40766B86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014" y="3182895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40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C14F98-EB08-4070-A49C-A8A25D76B6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38D46C-1FA0-4C20-A3A5-A71F44DAB3E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8"/>
            <a:ext cx="11117083" cy="707886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9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9" y="4305453"/>
            <a:ext cx="4356100" cy="309562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865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21EBD52-9DDE-4C3D-BF91-2DD57BB3A21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8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8" y="4519220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/>
        </p:nvSpPr>
        <p:spPr>
          <a:xfrm>
            <a:off x="5635487" y="1938130"/>
            <a:ext cx="921028" cy="94421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8" y="2404368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B25C1C-6629-4BA4-9851-F12F6AFDD6B6}"/>
              </a:ext>
            </a:extLst>
          </p:cNvPr>
          <p:cNvGrpSpPr/>
          <p:nvPr/>
        </p:nvGrpSpPr>
        <p:grpSpPr>
          <a:xfrm>
            <a:off x="537458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9D0966-B22F-47C2-BA2B-ECBA03B6232D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4F64AA-4A70-49BD-9FA1-7F42629FCA3C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003E77-5EC9-4043-82E6-DA753DA68411}"/>
              </a:ext>
            </a:extLst>
          </p:cNvPr>
          <p:cNvGrpSpPr/>
          <p:nvPr/>
        </p:nvGrpSpPr>
        <p:grpSpPr>
          <a:xfrm>
            <a:off x="537459" y="668337"/>
            <a:ext cx="1833583" cy="527240"/>
            <a:chOff x="522288" y="496888"/>
            <a:chExt cx="866775" cy="249238"/>
          </a:xfrm>
          <a:solidFill>
            <a:schemeClr val="accent2"/>
          </a:soli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D171461C-7E11-4727-BC70-1A3E99B78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DCB1985-1E91-4176-A736-EDBF686BA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BA7B760-C9CC-4119-BE9E-1F211E9518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9D52E03-D7AD-4990-8226-88567044F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D48C1F2-89B1-4202-8201-04D58C387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83419930-EB06-420C-9C85-6453A218E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9959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Open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7CF25C-82C5-4E39-9DBF-813F29A7D81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5191984" y="0"/>
            <a:ext cx="7000015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93776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776" y="4577566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/>
        </p:nvSpPr>
        <p:spPr>
          <a:xfrm>
            <a:off x="4909930" y="2223653"/>
            <a:ext cx="2514600" cy="1592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493776" y="2397865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81018-9257-4330-ACBD-1BA79AA27977}"/>
              </a:ext>
            </a:extLst>
          </p:cNvPr>
          <p:cNvSpPr/>
          <p:nvPr/>
        </p:nvSpPr>
        <p:spPr>
          <a:xfrm>
            <a:off x="3793657" y="600"/>
            <a:ext cx="2514600" cy="993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8D1809-26DB-4EAB-B9FE-A9F69EA3676B}"/>
              </a:ext>
            </a:extLst>
          </p:cNvPr>
          <p:cNvGrpSpPr/>
          <p:nvPr/>
        </p:nvGrpSpPr>
        <p:grpSpPr>
          <a:xfrm>
            <a:off x="493776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4E08BE1-618C-49D8-B7EF-C3C543F809DA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3BF6B8-D820-4EF1-9D81-6550D585FB39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045D3C-8236-4AEA-9D24-B742D74089AF}"/>
              </a:ext>
            </a:extLst>
          </p:cNvPr>
          <p:cNvGrpSpPr/>
          <p:nvPr/>
        </p:nvGrpSpPr>
        <p:grpSpPr>
          <a:xfrm>
            <a:off x="493777" y="668337"/>
            <a:ext cx="1833583" cy="527240"/>
            <a:chOff x="522288" y="496888"/>
            <a:chExt cx="866775" cy="249238"/>
          </a:xfrm>
          <a:solidFill>
            <a:schemeClr val="tx1"/>
          </a:solidFill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9A4EA13-CF31-48DE-96E1-28BADD2F2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D5A1E693-B34D-4A8B-9209-B9B03E4A1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6B23526B-DCF2-4446-A8DF-97A4358555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55C3E40B-FD7B-49C5-A50A-33AFAB8ED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20ABD8C8-DA77-4033-9AF1-7EBB5B37E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87159288-A5ED-4305-8773-CBBE6AB13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1869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331D50D-30CF-4EDE-AAD6-F27CA1FDE9C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D7E3742-E8A0-4CDC-9BD4-F9762186075C}" type="datetime1">
              <a:rPr lang="en-US" smtClean="0"/>
              <a:t>8/10/2026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B98D741-86A0-4952-A3ED-78E843F23C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A9C1A8-0BFC-4236-A720-3456710C7F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77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32AF60-FE79-46A0-BC71-D44F0EA48E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089B256-3388-4993-AC50-E891B29B4252}" type="datetime1">
              <a:rPr lang="en-US" smtClean="0"/>
              <a:t>8/10/2026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29E755B-56DD-462B-ABE5-CF5CC16BEF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BE4BA5-BC2D-41C2-86C7-5365F2F9A5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8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backgrou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3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3C7AD3A-599B-4013-9C13-39954DC16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1ADD5D9-8A96-4CC9-B73E-AEDD4253EA37}" type="datetime1">
              <a:rPr lang="en-US" smtClean="0"/>
              <a:t>8/10/2026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8C8EB2-9FA7-41E0-9ED8-5393479C4C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BEF155E-4AF5-46F2-9B1D-1AA8A2781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73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bottom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8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0820E8D-C14D-4C0B-BD6B-8F88D7BAAD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66E72EC-F3AA-4AAA-93F2-3070632A2666}" type="datetime1">
              <a:rPr lang="en-US" smtClean="0"/>
              <a:t>8/10/2026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74A7328-CA38-4B1B-B573-1B0774D3AC9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FC39A8-2928-4641-814D-B19F9B6E95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0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5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97BB7-0400-4F5F-B75B-E08643B2110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957098-506A-4526-8F96-614F169B4FA8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F71E9-F7CE-4E64-AEEB-C5CAA1C4C9C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6FA90-FF74-470B-B12B-CCFE0A47C2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75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midd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5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F18A5-09F4-47C1-A4BD-EC66B9E1685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A49B37-5E9A-40EA-90BF-619B070E56C4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EBA99D-F27E-46D4-86A6-1803583B424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AA439-BB0B-4BC6-A160-9D3AE0EBCD9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8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7D3ED-8D67-4329-961D-BAFB628883A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BEEB770-CD45-47D5-A374-AC399FDE9317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796849-6AD9-46A1-9917-550D61FDBEE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9D0C9D-FFF7-4329-BDB4-01B62B2341A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86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2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5079B-A7F3-4458-8D93-E8D810E987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1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1892826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spc="0" baseline="0">
                <a:solidFill>
                  <a:srgbClr val="FFFFFF"/>
                </a:solidFill>
                <a:latin typeface="Work Sans Medium" panose="020B0706030804020204" pitchFamily="34" charset="0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201FB-FE53-4F0B-8FDF-C2DEEA8F96B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2E830D1-376A-4005-BB91-E1BC51C246EF}" type="datetime1">
              <a:rPr lang="en-US" smtClean="0"/>
              <a:t>8/10/2026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20328C-B50E-4E5B-A023-F1DFCF9F6B1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CC5429-3FEC-4B5F-A188-C895E74366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90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5" y="0"/>
            <a:ext cx="584077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04751" y="2817265"/>
            <a:ext cx="5245824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D586E-F233-48FE-A780-BB4D0BED11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6897" y="4383089"/>
            <a:ext cx="5243679" cy="367816"/>
          </a:xfrm>
        </p:spPr>
        <p:txBody>
          <a:bodyPr/>
          <a:lstStyle>
            <a:lvl1pPr marL="0" indent="0">
              <a:buNone/>
              <a:defRPr/>
            </a:lvl1pPr>
            <a:lvl2pPr marL="266689" indent="0">
              <a:buNone/>
              <a:defRPr/>
            </a:lvl2pPr>
            <a:lvl3pPr marL="914363" indent="0">
              <a:buNone/>
              <a:defRPr/>
            </a:lvl3pPr>
            <a:lvl4pPr marL="1371545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DFC6F-3286-4A3D-A782-EF139340A1F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751" y="464695"/>
            <a:ext cx="1727322" cy="4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46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1" y="426425"/>
            <a:ext cx="5245824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5" y="0"/>
            <a:ext cx="584077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023732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949243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896ED2-8998-45EC-B37F-E645AEBA4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50000" y="2454275"/>
            <a:ext cx="5238750" cy="2236788"/>
          </a:xfrm>
        </p:spPr>
        <p:txBody>
          <a:bodyPr>
            <a:no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66689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363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545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727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20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75740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2991678"/>
            <a:ext cx="12192000" cy="3866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988EB7-C821-4EEA-B8AF-13B106E73F0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7419" y="436120"/>
            <a:ext cx="1727322" cy="49746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896ED2-8998-45EC-B37F-E645AEBA4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7260" y="341736"/>
            <a:ext cx="8638209" cy="1223460"/>
          </a:xfrm>
        </p:spPr>
        <p:txBody>
          <a:bodyPr>
            <a:no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66689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363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545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727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20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4506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1" y="505937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61F96C5-3350-41E7-9935-541D8E55CBF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EA5CC56-7B2A-40C9-A59D-4BA5CD6E7410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04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F03B81E-CC90-411E-907D-CE60ACBAE6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_half_left">
            <a:extLst>
              <a:ext uri="{FF2B5EF4-FFF2-40B4-BE49-F238E27FC236}">
                <a16:creationId xmlns:a16="http://schemas.microsoft.com/office/drawing/2014/main" id="{5BF4DA2A-5A7C-4029-B48B-32F5FE34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61" y="505937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9D3E6B4F-D21C-426D-B8FD-240BB68CA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89654" y="6327574"/>
            <a:ext cx="464888" cy="238059"/>
          </a:xfrm>
        </p:spPr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B33EF04-15F4-4247-858A-D0710FB043A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819400" y="6323715"/>
            <a:ext cx="7193282" cy="245776"/>
          </a:xfrm>
        </p:spPr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4" name="Subtitle_half_left">
            <a:extLst>
              <a:ext uri="{FF2B5EF4-FFF2-40B4-BE49-F238E27FC236}">
                <a16:creationId xmlns:a16="http://schemas.microsoft.com/office/drawing/2014/main" id="{3A41A42D-CD31-48F6-B386-50253686E9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B62C4CC1-23D3-424A-9A46-85D9CC8FCD4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 flipH="1">
            <a:off x="10217150" y="6327578"/>
            <a:ext cx="866140" cy="238051"/>
          </a:xfrm>
        </p:spPr>
        <p:txBody>
          <a:bodyPr/>
          <a:lstStyle/>
          <a:p>
            <a:fld id="{E01ECB1C-2D1A-4FC7-B4AB-F0B69A6E8357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76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1254D4-FD9A-416B-A46F-548B6D07957B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33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b p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397000" y="1485900"/>
            <a:ext cx="6299200" cy="382905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87499" y="1803389"/>
            <a:ext cx="5922963" cy="33353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651354" y="1585913"/>
            <a:ext cx="3038476" cy="1838325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743600" y="1738313"/>
            <a:ext cx="2858400" cy="1595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651354" y="3381377"/>
            <a:ext cx="3038476" cy="1838325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7743600" y="3533777"/>
            <a:ext cx="2858400" cy="1595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5B1FEBC-DBE4-46E4-85A5-7821E881193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980D578-04A3-433C-94D9-715EAA11B5A8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32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89A59-B598-4605-94C7-790118509E9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5AF8B3-C56A-4881-9F10-508365DDB0F4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914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649D5E-F6D0-4AA0-9127-CE8B8D683178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FB12CD-65BF-4CB2-BEF8-CFA84EB72DD6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136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614988" y="1671637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762727" y="2785586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477726" y="2785586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792575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0159662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1075194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4442281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6DA9F-7CE5-43B5-8F53-462D33E0516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D94380D-3A88-4ABA-BC5A-F5ECE2A8CA44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9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AFC74-5FD3-4865-8C40-97BD719CA79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C27C40B-04B0-4A84-AE56-79988C487231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051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EF514-C482-4232-A3C4-2A64B27FDA7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85C2874-31CE-4AF1-9E78-C013A8C9056B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682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54AED-ADE0-4FD9-A927-39235D41254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08BB2DB-A751-408C-B355-4F5EABEA2683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467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3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6" y="1679973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6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6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1" y="1679973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6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6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EC102-29F4-44F4-9717-4F55C36451D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D93C2A46-5588-4E6A-9C8C-94D538C85B57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628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EAB10-2A06-46DB-9D61-651C4714BC8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4F1531-E2C2-4B68-BE5C-D11389BED915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479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513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07600"/>
            <a:ext cx="11117083" cy="58477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8390B-E553-4AFB-9D02-3A91A917F16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A3A47A5-0121-443F-895F-797BACDB400D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79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50"/>
            <a:ext cx="3555570" cy="1569660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AD4B0-74D8-4A99-8D65-643E71AF4BF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05A3158-BE9F-49DA-9FD3-84B29886293F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182BAD-05B8-4986-BB17-A1EEBE504F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CC83B-39BF-444E-9F0E-05AF20B460A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188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50"/>
            <a:ext cx="3555570" cy="1569660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1"/>
            <a:ext cx="12192000" cy="42513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36426-6EC5-4026-9861-2E3B511F9B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DA022D3-C253-448B-989F-257166C3CFBF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406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6249771" y="507601"/>
            <a:ext cx="5245824" cy="1077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840776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285DA-4081-47B1-9802-35DB6744DC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75252E8-C241-426A-AE35-15C17AE3ABA6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D09ACD-7F31-45B9-830E-CB35153DEB8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399" y="6323715"/>
            <a:ext cx="4807125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D63F7-AFCC-49EC-A106-B67FD146536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301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background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6249771" y="507601"/>
            <a:ext cx="5245824" cy="1077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840776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ubtitle_half_right"/>
          <p:cNvSpPr>
            <a:spLocks noGrp="1"/>
          </p:cNvSpPr>
          <p:nvPr>
            <p:ph type="body" sz="quarter" idx="14" hasCustomPrompt="1"/>
          </p:nvPr>
        </p:nvSpPr>
        <p:spPr>
          <a:xfrm>
            <a:off x="6251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4B8A11-8D61-4C4F-97A4-733042DD642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6AFFC17-8528-4E5E-8CC8-9E6B17EFE49D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92617-E2A3-4D69-A3DF-8DF4D293841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00" y="6323715"/>
            <a:ext cx="485475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BCE30-C810-4694-95AD-55DD5391E4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481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0"/>
            <a:ext cx="10958541" cy="584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1"/>
            <a:ext cx="2790000" cy="4714509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1"/>
            <a:ext cx="2790000" cy="4714509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8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DEF6B-1CDC-48FB-B2FA-212E8F433ED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11DED1E-F2E4-4B74-A62E-14D9ACC9FBE6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964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683D3-6885-4096-8122-8A581B751BB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3E2C7B5E-4E0F-442A-BBFE-AD33FD31580B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880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65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106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344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385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6366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6781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Text Placeholder 6"/>
          <p:cNvSpPr>
            <a:spLocks noGrp="1"/>
          </p:cNvSpPr>
          <p:nvPr>
            <p:ph type="body" sz="quarter" idx="33"/>
          </p:nvPr>
        </p:nvSpPr>
        <p:spPr>
          <a:xfrm>
            <a:off x="929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Picture Placeholder 8"/>
          <p:cNvSpPr>
            <a:spLocks noGrp="1"/>
          </p:cNvSpPr>
          <p:nvPr>
            <p:ph type="pic" sz="quarter" idx="34"/>
          </p:nvPr>
        </p:nvSpPr>
        <p:spPr>
          <a:xfrm>
            <a:off x="970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04560-DEDE-4304-8564-D6CFB192130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fld id="{45178197-E0A7-4708-97D8-61DC8D323C9F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048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836000" y="1269001"/>
            <a:ext cx="2520000" cy="4469021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299200" y="2124000"/>
            <a:ext cx="1598400" cy="279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29"/>
          </p:nvPr>
        </p:nvSpPr>
        <p:spPr>
          <a:xfrm>
            <a:off x="299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65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31"/>
          </p:nvPr>
        </p:nvSpPr>
        <p:spPr>
          <a:xfrm>
            <a:off x="7626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992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6E03B-D1A3-49D7-BDA2-2B1C473B90CE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E67528B9-D079-4CCD-809A-E54284372E98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23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7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7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CA95F-2646-46AB-92A0-FCDE59F0AF6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B09D422-05A4-424F-9D0A-E67FFE2F4AFB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035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CDCFD83-29A0-4266-8E72-C7872FCA40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E554C41-E552-406F-8C7B-913D13B4C262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354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 noChangeAspect="1"/>
          </p:cNvSpPr>
          <p:nvPr>
            <p:ph type="body" sz="quarter" idx="14"/>
          </p:nvPr>
        </p:nvSpPr>
        <p:spPr>
          <a:xfrm>
            <a:off x="8438400" y="1242000"/>
            <a:ext cx="2721600" cy="4899763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940799" y="2185037"/>
            <a:ext cx="1721485" cy="3072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894000" y="1000800"/>
            <a:ext cx="2988000" cy="53856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39027" y="2028827"/>
            <a:ext cx="1898648" cy="33527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/>
          <p:cNvSpPr>
            <a:spLocks noGrp="1" noChangeAspect="1"/>
          </p:cNvSpPr>
          <p:nvPr>
            <p:ph type="body" sz="quarter" idx="16"/>
          </p:nvPr>
        </p:nvSpPr>
        <p:spPr>
          <a:xfrm>
            <a:off x="6057900" y="4183925"/>
            <a:ext cx="2114550" cy="2114983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 noChangeAspect="1"/>
          </p:cNvSpPr>
          <p:nvPr>
            <p:ph type="pic" sz="quarter" idx="17"/>
          </p:nvPr>
        </p:nvSpPr>
        <p:spPr>
          <a:xfrm>
            <a:off x="6393077" y="4519616"/>
            <a:ext cx="1444199" cy="1443600"/>
          </a:xfrm>
          <a:prstGeom prst="roundRect">
            <a:avLst>
              <a:gd name="adj" fmla="val 24561"/>
            </a:avLst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4AD55B3-D661-491A-8908-26DA58DF016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E92E1BD-0968-4BA4-8DED-B0165DD6D45C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1"/>
            <a:ext cx="60284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610600" y="442912"/>
            <a:ext cx="3489076" cy="5895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6871" y="1569600"/>
            <a:ext cx="2214000" cy="367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65899" y="69850"/>
            <a:ext cx="3867785" cy="6535738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268400" y="1317600"/>
            <a:ext cx="2462400" cy="4071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ubtitle_half_left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603584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BB3C1-F184-4624-957C-11069899683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561C769-D4EB-4A03-8722-F7723CA906AA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114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60" y="507601"/>
            <a:ext cx="54685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7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54872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AD8AF-2D5F-41F9-A2CD-CC6CECFFB1B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F3C7703-C88B-4A34-B922-3915BC61E5BE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72A04-22D3-430B-9A51-52297E6ACBC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08CF4-5D69-473C-AD15-4EFAD292026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EC21C60-F8F6-4713-9C3A-36A45EB422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8538131-5352-4760-982F-4CF68C1370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0419" y="6236307"/>
            <a:ext cx="109296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9525">
            <a:solidFill>
              <a:schemeClr val="accent5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00659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6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7458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CA4C63E-82B6-45AE-8E1B-5834946546C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26BD473-C0DD-4927-93E7-8FE6513E835B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605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60" y="507601"/>
            <a:ext cx="54685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54872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0B690F-AE10-4AC5-B742-38A87F78E8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D8294-CB5D-48A3-AF81-4EA0BC6DBAE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3C95782-A6B5-4507-A1A0-3F014902179A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A0D8B-DB9A-446B-ABAF-4EB4825BAAA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990A2-3A3F-47BA-AA36-8341BD8C796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72D59F-7C58-4F26-AF3E-6270031DCB52}"/>
              </a:ext>
            </a:extLst>
          </p:cNvPr>
          <p:cNvCxnSpPr>
            <a:cxnSpLocks/>
          </p:cNvCxnSpPr>
          <p:nvPr/>
        </p:nvCxnSpPr>
        <p:spPr>
          <a:xfrm>
            <a:off x="622301" y="6223334"/>
            <a:ext cx="10931525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9162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1"/>
            <a:ext cx="60284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60587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8EDBA-32D1-4CAD-B6F5-A12817AA14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CFA2FE0-BD81-4919-A9E3-335BAB042714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334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1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D71CA83-4C14-4F76-8A2E-4BC45FED97B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673031-0AB9-4C17-995D-EB0C9874A4CF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585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E8933-31AB-4E36-AA2D-4C3A1404976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C52995B-7D74-431A-9CDE-D6AA24246FA0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564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&amp; Mob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35780" y="1958400"/>
            <a:ext cx="2473200" cy="44496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786238" y="2800350"/>
            <a:ext cx="1576462" cy="278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F0666-F520-4269-B254-69D901F7443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3F20899-D306-4FD3-9E9C-8DBB3548711E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745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ows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57900" y="1384300"/>
            <a:ext cx="5765800" cy="46863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57939" y="1943100"/>
            <a:ext cx="5186361" cy="3854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85A0D-1399-471C-86C5-8E18B0508C2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453CA18-FD03-4321-A477-050B6937627F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103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Opening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93776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776" y="4577566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493776" y="2397865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83216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0" y="277370"/>
            <a:ext cx="11049000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37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73" indent="0">
              <a:buNone/>
              <a:defRPr sz="1917">
                <a:solidFill>
                  <a:schemeClr val="tx1">
                    <a:tint val="75000"/>
                  </a:schemeClr>
                </a:solidFill>
              </a:defRPr>
            </a:lvl3pPr>
            <a:lvl4pPr marL="1632711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4pPr>
            <a:lvl5pPr marL="217694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5pPr>
            <a:lvl6pPr marL="272118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6pPr>
            <a:lvl7pPr marL="326542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7pPr>
            <a:lvl8pPr marL="380965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8pPr>
            <a:lvl9pPr marL="435389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the title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600" y="304800"/>
            <a:ext cx="5334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04271" y="709983"/>
            <a:ext cx="11055615" cy="550333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5"/>
          </p:nvPr>
        </p:nvSpPr>
        <p:spPr>
          <a:xfrm>
            <a:off x="277789" y="1547784"/>
            <a:ext cx="11151901" cy="4683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>
          <a:xfrm>
            <a:off x="736599" y="6515100"/>
            <a:ext cx="666752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0E42CFB5-33FE-427D-9E6E-6D4B67A9B272}" type="datetime1">
              <a:rPr lang="en-US" smtClean="0"/>
              <a:t>8/10/2026</a:t>
            </a:fld>
            <a:endParaRPr lang="en-U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5100"/>
            <a:ext cx="7848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 userDrawn="1"/>
        </p:nvCxnSpPr>
        <p:spPr>
          <a:xfrm rot="5400000">
            <a:off x="519642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1293283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rot="5400000">
            <a:off x="2865967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ooter Placeholder 4"/>
          <p:cNvSpPr txBox="1">
            <a:spLocks/>
          </p:cNvSpPr>
          <p:nvPr userDrawn="1"/>
        </p:nvSpPr>
        <p:spPr>
          <a:xfrm>
            <a:off x="1513417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3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pic>
        <p:nvPicPr>
          <p:cNvPr id="31" name="Picture 30" descr="KPIT logo-(RGB)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152" y="6369998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10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&amp; half background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536401" y="6323715"/>
            <a:ext cx="4183061" cy="245776"/>
          </a:xfrm>
        </p:spPr>
        <p:txBody>
          <a:bodyPr/>
          <a:lstStyle>
            <a:lvl1pPr algn="l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185035" y="2404368"/>
            <a:ext cx="5729991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80151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0" y="277370"/>
            <a:ext cx="11049000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37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73" indent="0">
              <a:buNone/>
              <a:defRPr sz="1917">
                <a:solidFill>
                  <a:schemeClr val="tx1">
                    <a:tint val="75000"/>
                  </a:schemeClr>
                </a:solidFill>
              </a:defRPr>
            </a:lvl3pPr>
            <a:lvl4pPr marL="1632711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4pPr>
            <a:lvl5pPr marL="217694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5pPr>
            <a:lvl6pPr marL="272118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6pPr>
            <a:lvl7pPr marL="326542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7pPr>
            <a:lvl8pPr marL="380965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8pPr>
            <a:lvl9pPr marL="435389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the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1" y="1008186"/>
            <a:ext cx="11364384" cy="5218943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714"/>
              </a:spcBef>
              <a:buNone/>
              <a:defRPr sz="2000"/>
            </a:lvl1pPr>
            <a:lvl2pPr marL="0" indent="0">
              <a:spcBef>
                <a:spcPts val="714"/>
              </a:spcBef>
              <a:buNone/>
              <a:defRPr sz="2167"/>
            </a:lvl2pPr>
            <a:lvl3pPr marL="0" indent="0">
              <a:spcBef>
                <a:spcPts val="714"/>
              </a:spcBef>
              <a:buNone/>
              <a:defRPr sz="2167"/>
            </a:lvl3pPr>
            <a:lvl4pPr marL="0" indent="0">
              <a:spcBef>
                <a:spcPts val="714"/>
              </a:spcBef>
              <a:buNone/>
              <a:defRPr sz="2167"/>
            </a:lvl4pPr>
            <a:lvl5pPr marL="0" indent="0">
              <a:spcBef>
                <a:spcPts val="714"/>
              </a:spcBef>
              <a:buNone/>
              <a:defRPr sz="2167"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600" y="304800"/>
            <a:ext cx="5334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17519" y="1005389"/>
            <a:ext cx="9273367" cy="7620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58A03178-31A8-4DBC-A0BE-B5D36B5E795B}" type="datetime1">
              <a:rPr lang="en-US" smtClean="0"/>
              <a:t>8/10/2026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5100"/>
            <a:ext cx="7848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 userDrawn="1"/>
        </p:nvCxnSpPr>
        <p:spPr>
          <a:xfrm rot="5400000">
            <a:off x="519642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rot="5400000">
            <a:off x="1293283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2865967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4"/>
          <p:cNvSpPr txBox="1">
            <a:spLocks/>
          </p:cNvSpPr>
          <p:nvPr userDrawn="1"/>
        </p:nvSpPr>
        <p:spPr>
          <a:xfrm>
            <a:off x="1513417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3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pic>
        <p:nvPicPr>
          <p:cNvPr id="30" name="Picture 29" descr="KPIT logo-(RGB)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152" y="6369998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558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2" y="2390232"/>
            <a:ext cx="5380741" cy="1415772"/>
          </a:xfrm>
        </p:spPr>
        <p:txBody>
          <a:bodyPr/>
          <a:lstStyle>
            <a:lvl1pPr>
              <a:defRPr sz="43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2F6C44-7D21-4EA5-8C0E-FDED3B0360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E8F19B0-E96D-4049-A19C-F3DAA268C007}" type="datetime1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86F3A-4614-43C1-8DAE-9518F2DC79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399" y="6323715"/>
            <a:ext cx="4769025" cy="245776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l"/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0B32D-AD1C-438E-BC41-93308B2179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108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20C89-3AD8-421C-943B-B1D687BB5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68C23B-D963-4861-94BA-CE56F2350497}"/>
              </a:ext>
            </a:extLst>
          </p:cNvPr>
          <p:cNvSpPr txBox="1"/>
          <p:nvPr userDrawn="1"/>
        </p:nvSpPr>
        <p:spPr>
          <a:xfrm>
            <a:off x="4302919" y="3167390"/>
            <a:ext cx="3586162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7175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21EBD52-9DDE-4C3D-BF91-2DD57BB3A2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4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Work Sans 10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163" y="4519220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 userDrawn="1"/>
        </p:nvSpPr>
        <p:spPr>
          <a:xfrm>
            <a:off x="5635487" y="1938130"/>
            <a:ext cx="921028" cy="94421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6996402" cy="1720372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B25C1C-6629-4BA4-9851-F12F6AFDD6B6}"/>
              </a:ext>
            </a:extLst>
          </p:cNvPr>
          <p:cNvGrpSpPr/>
          <p:nvPr userDrawn="1"/>
        </p:nvGrpSpPr>
        <p:grpSpPr>
          <a:xfrm>
            <a:off x="579481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9D0966-B22F-47C2-BA2B-ECBA03B6232D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4F64AA-4A70-49BD-9FA1-7F42629FCA3C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1886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206968"/>
            <a:ext cx="11117083" cy="461665"/>
          </a:xfrm>
        </p:spPr>
        <p:txBody>
          <a:bodyPr/>
          <a:lstStyle>
            <a:lvl1pPr>
              <a:defRPr sz="24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E2A97C-BDF1-462E-B915-1B8A32FE5D5A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96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Work Sans 10 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D887E00-7FC2-48C9-B09B-E04F3C92281D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385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9C0222A4-5669-4B19-B70C-CFFE504EE335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925200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6/13/2022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292678"/>
      </p:ext>
    </p:extLst>
  </p:cSld>
  <p:clrMapOvr>
    <a:masterClrMapping/>
  </p:clrMapOvr>
  <p:hf hdr="0" ft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Work Sans 10 pt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925200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907078C-F32E-4ECB-B169-B11CE0F45842}" type="datetime1">
              <a:rPr lang="en-US" smtClean="0"/>
              <a:t>8/10/2026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867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E31A-5C04-4352-963E-D72457B4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2F8723-5E4D-4A2D-A4BB-2A601FBEB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B5F246-DA92-4692-AF32-FAC897DC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ADE9B-F88B-44A4-BD7C-D5087999D11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6FAD7AF-B799-481D-AEB5-C2AAFBC51B44}" type="datetime1">
              <a:rPr lang="en-GB" smtClean="0"/>
              <a:t>10/08/2026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9771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BA75C-A889-5249-BD59-3EAE5C3E6C6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2E9-66D1-144B-8C70-33EB4D437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083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FF06-EAB8-4583-BF16-8E940DC4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622C6-979F-4152-8A15-8FAA2898C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407BD-0EA2-4F5D-B431-766121F9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Ltd.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8375F-4EAD-44F9-BF41-00612320FB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FB24538-FEBA-42C3-8C08-A91CC2FE271F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583C099-E1EE-4D8F-BD9F-C7BBEDC862F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185" y="536183"/>
            <a:ext cx="11860891" cy="487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150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05937"/>
            <a:ext cx="11117083" cy="58477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27574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5"/>
                </a:solidFill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22301" y="6223334"/>
            <a:ext cx="10931525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2819400" y="6323715"/>
            <a:ext cx="7193282" cy="245776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1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10217150" y="6327578"/>
            <a:ext cx="866140" cy="238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fld id="{D61ED1EF-E36C-49ED-B996-287918BBC9DC}" type="datetime1">
              <a:rPr lang="en-US" smtClean="0"/>
              <a:t>8/10/2026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64D412-F064-400C-8012-40BEB9578E7A}"/>
              </a:ext>
            </a:extLst>
          </p:cNvPr>
          <p:cNvPicPr>
            <a:picLocks noChangeAspect="1"/>
          </p:cNvPicPr>
          <p:nvPr/>
        </p:nvPicPr>
        <p:blipFill>
          <a:blip r:embed="rId7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4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9" r:id="rId67"/>
    <p:sldLayoutId id="2147483731" r:id="rId68"/>
    <p:sldLayoutId id="2147483733" r:id="rId69"/>
    <p:sldLayoutId id="2147483734" r:id="rId70"/>
    <p:sldLayoutId id="2147483735" r:id="rId71"/>
    <p:sldLayoutId id="2147483736" r:id="rId72"/>
    <p:sldLayoutId id="2147483737" r:id="rId73"/>
    <p:sldLayoutId id="2147483738" r:id="rId74"/>
  </p:sldLayoutIdLst>
  <p:hf hdr="0"/>
  <p:txStyles>
    <p:titleStyle>
      <a:lvl1pPr algn="l" defTabSz="914363" rtl="0" eaLnBrk="1" latinLnBrk="0" hangingPunct="1">
        <a:lnSpc>
          <a:spcPct val="100000"/>
        </a:lnSpc>
        <a:spcBef>
          <a:spcPct val="0"/>
        </a:spcBef>
        <a:buNone/>
        <a:defRPr sz="3200" kern="1200" spc="-2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689" indent="-266689" algn="l" defTabSz="914363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832" indent="-184143" algn="l" defTabSz="914363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8B6CD3-5EE0-AE74-C49E-4275A69B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8" y="2404367"/>
            <a:ext cx="7667203" cy="1323439"/>
          </a:xfrm>
        </p:spPr>
        <p:txBody>
          <a:bodyPr/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Ritvik Narula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142A63-FAA9-9919-B0D9-F7AFAAAEB0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207"/>
          <a:stretch/>
        </p:blipFill>
        <p:spPr>
          <a:xfrm>
            <a:off x="10440039" y="149903"/>
            <a:ext cx="1214503" cy="1139252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6ED7823-53F5-4A8C-9BEA-F7089263CAB9}"/>
              </a:ext>
            </a:extLst>
          </p:cNvPr>
          <p:cNvSpPr>
            <a:spLocks noGrp="1"/>
          </p:cNvSpPr>
          <p:nvPr/>
        </p:nvSpPr>
        <p:spPr>
          <a:xfrm>
            <a:off x="537458" y="1848044"/>
            <a:ext cx="1587276" cy="373811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36000" tIns="0" rIns="3600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  <a:lvl2pPr marL="450850" indent="-18415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rgbClr val="161718"/>
              </a:buClr>
              <a:buSzPct val="100000"/>
              <a:buFont typeface="Work Sans" panose="020B0604020202020204" pitchFamily="34" charset="0"/>
              <a:buNone/>
              <a:tabLst/>
              <a:defRPr/>
            </a:pPr>
            <a:r>
              <a:rPr lang="en-US">
                <a:solidFill>
                  <a:srgbClr val="161718"/>
                </a:solidFill>
                <a:latin typeface="Work Sans Medium"/>
              </a:rPr>
              <a:t>August 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FD462AC-940C-44DC-886F-223325DC0495}"/>
              </a:ext>
            </a:extLst>
          </p:cNvPr>
          <p:cNvSpPr>
            <a:spLocks noGrp="1"/>
          </p:cNvSpPr>
          <p:nvPr/>
        </p:nvSpPr>
        <p:spPr>
          <a:xfrm>
            <a:off x="537458" y="4703543"/>
            <a:ext cx="5097324" cy="877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18415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rgbClr val="161718"/>
              </a:buClr>
              <a:buSzPct val="100000"/>
              <a:buFont typeface="Work Sans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B0FF45"/>
                </a:solidFill>
                <a:effectLst/>
                <a:uLnTx/>
                <a:uFillTx/>
                <a:latin typeface="Work Sans"/>
                <a:ea typeface="+mn-ea"/>
                <a:cs typeface="+mn-cs"/>
              </a:rPr>
              <a:t>Georgia Tech  | 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308319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61718"/>
                </a:solidFill>
                <a:latin typeface="Work Sans Medium"/>
              </a:rPr>
              <a:t>Validating an automotive ECM means reading its signals on an oscilloscope - by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3444240" cy="26517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82296" cy="2651760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83464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Slow &amp;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10128"/>
            <a:ext cx="2987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An engineer reads the scope for every test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The automated sequence stops and waits for a person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00" y="2651760"/>
            <a:ext cx="3444240" cy="26517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67200" y="2651760"/>
            <a:ext cx="82296" cy="2651760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3232" y="283464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Not repeatable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3232" y="3310128"/>
            <a:ext cx="2987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Readings are subjective, hard to reproduce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Can't be regressed across ECM software builds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5760" y="2651760"/>
            <a:ext cx="3444240" cy="26517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85760" y="2651760"/>
            <a:ext cx="82296" cy="2651760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1792" y="283464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Not traceable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1792" y="3310128"/>
            <a:ext cx="2987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No automatic record tying result to requirement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Hard to prove coverage for audits (ASPICE)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61718"/>
                </a:solidFill>
                <a:latin typeface="Work Sans"/>
              </a:rPr>
              <a:t>The bottleneck: </a:t>
            </a:r>
            <a:r>
              <a:rPr sz="1400" b="0">
                <a:solidFill>
                  <a:srgbClr val="4D5154"/>
                </a:solidFill>
                <a:latin typeface="Work Sans"/>
              </a:rPr>
              <a:t>a human in the middle of an otherwise automated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What, why, 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313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313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61718"/>
                </a:solidFill>
                <a:latin typeface="Work Sans Medium"/>
              </a:rPr>
              <a:t>Automate the instruments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31394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428003"/>
                </a:solidFill>
                <a:latin typeface="Work Sans"/>
              </a:rPr>
              <a:t>-  </a:t>
            </a:r>
            <a:r>
              <a:rPr sz="1300" b="0">
                <a:solidFill>
                  <a:srgbClr val="4D5154"/>
                </a:solidFill>
                <a:latin typeface="Work Sans"/>
              </a:rPr>
              <a:t>Software that drives the oscilloscope and function generator directly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428003"/>
                </a:solidFill>
                <a:latin typeface="Work Sans"/>
              </a:rPr>
              <a:t>-  </a:t>
            </a:r>
            <a:r>
              <a:rPr sz="1300" b="0">
                <a:solidFill>
                  <a:srgbClr val="4D5154"/>
                </a:solidFill>
                <a:latin typeface="Work Sans"/>
              </a:rPr>
              <a:t>One consistent way to set up, capture and measure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137160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19600" y="1536192"/>
            <a:ext cx="313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1874519"/>
            <a:ext cx="313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61718"/>
                </a:solidFill>
                <a:latin typeface="Work Sans Medium"/>
              </a:rPr>
              <a:t>Take the person out of the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2834640"/>
            <a:ext cx="31394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428003"/>
                </a:solidFill>
                <a:latin typeface="Work Sans"/>
              </a:rPr>
              <a:t>-  </a:t>
            </a:r>
            <a:r>
              <a:rPr sz="1300" b="0">
                <a:solidFill>
                  <a:srgbClr val="4D5154"/>
                </a:solidFill>
                <a:latin typeface="Work Sans"/>
              </a:rPr>
              <a:t>Faster, repeatable, objective results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428003"/>
                </a:solidFill>
                <a:latin typeface="Work Sans"/>
              </a:rPr>
              <a:t>-  </a:t>
            </a:r>
            <a:r>
              <a:rPr sz="1300" b="0">
                <a:solidFill>
                  <a:srgbClr val="4D5154"/>
                </a:solidFill>
                <a:latin typeface="Work Sans"/>
              </a:rPr>
              <a:t>Frees engineers from watching a 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0560" y="137160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0560" y="1536192"/>
            <a:ext cx="313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874519"/>
            <a:ext cx="313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61718"/>
                </a:solidFill>
                <a:latin typeface="Work Sans Medium"/>
              </a:rPr>
              <a:t>Plug into the existing test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560" y="2834640"/>
            <a:ext cx="31394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428003"/>
                </a:solidFill>
                <a:latin typeface="Work Sans"/>
              </a:rPr>
              <a:t>-  </a:t>
            </a:r>
            <a:r>
              <a:rPr sz="1300" b="0">
                <a:solidFill>
                  <a:srgbClr val="4D5154"/>
                </a:solidFill>
                <a:latin typeface="Work Sans"/>
              </a:rPr>
              <a:t>Slots into TestStand as ordinary Python steps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428003"/>
                </a:solidFill>
                <a:latin typeface="Work Sans"/>
              </a:rPr>
              <a:t>-  </a:t>
            </a:r>
            <a:r>
              <a:rPr sz="1300" b="0">
                <a:solidFill>
                  <a:srgbClr val="4D5154"/>
                </a:solidFill>
                <a:latin typeface="Work Sans"/>
              </a:rPr>
              <a:t>Reuses the bench already on the floor - no new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77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61718"/>
                </a:solidFill>
                <a:latin typeface="Work Sans"/>
              </a:rPr>
              <a:t>The result: </a:t>
            </a:r>
            <a:r>
              <a:rPr sz="1400" b="0">
                <a:solidFill>
                  <a:srgbClr val="4D5154"/>
                </a:solidFill>
                <a:latin typeface="Work Sans"/>
              </a:rPr>
              <a:t>a hands-off measurement block the whole team can rely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Where the code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THE USUAL WAY VS.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Typical setup (VISA)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103120"/>
            <a:ext cx="3108960" cy="566928"/>
          </a:xfrm>
          <a:prstGeom prst="rect">
            <a:avLst/>
          </a:prstGeom>
          <a:solidFill>
            <a:srgbClr val="E6E7E8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61718"/>
                </a:solidFill>
                <a:latin typeface="Work Sans Medium"/>
              </a:rPr>
              <a:t>TestStand /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5176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Work Sans"/>
              </a:rPr>
              <a:t>|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871215"/>
            <a:ext cx="3108960" cy="566928"/>
          </a:xfrm>
          <a:prstGeom prst="rect">
            <a:avLst/>
          </a:prstGeom>
          <a:solidFill>
            <a:srgbClr val="DDDDDD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871215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4D5154"/>
                </a:solidFill>
                <a:latin typeface="Work Sans Medium"/>
              </a:rPr>
              <a:t>PyVISA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871215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Work Sans"/>
              </a:rPr>
              <a:t>wrapper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198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Work Sans"/>
              </a:rPr>
              <a:t>|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639311"/>
            <a:ext cx="3108960" cy="566928"/>
          </a:xfrm>
          <a:prstGeom prst="rect">
            <a:avLst/>
          </a:prstGeom>
          <a:solidFill>
            <a:srgbClr val="DDDDDD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639311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4D5154"/>
                </a:solidFill>
                <a:latin typeface="Work Sans Medium"/>
              </a:rPr>
              <a:t>NI-VISA 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3639311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Work Sans"/>
              </a:rPr>
              <a:t>install +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8795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Work Sans"/>
              </a:rPr>
              <a:t>|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4407407"/>
            <a:ext cx="3108960" cy="566928"/>
          </a:xfrm>
          <a:prstGeom prst="rect">
            <a:avLst/>
          </a:prstGeom>
          <a:solidFill>
            <a:srgbClr val="161718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407407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ork Sans Medium"/>
              </a:rPr>
              <a:t>Instrument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93791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753DFF"/>
                </a:solidFill>
                <a:latin typeface="Work Sans"/>
              </a:rPr>
              <a:t>4 layers - an extra driver to install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6002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This project (direct)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2103120"/>
            <a:ext cx="3108960" cy="566928"/>
          </a:xfrm>
          <a:prstGeom prst="rect">
            <a:avLst/>
          </a:prstGeom>
          <a:solidFill>
            <a:srgbClr val="E6E7E8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20" y="2103120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61718"/>
                </a:solidFill>
                <a:latin typeface="Work Sans Medium"/>
              </a:rPr>
              <a:t>TestStand /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65176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Work Sans"/>
              </a:rPr>
              <a:t>|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871215"/>
            <a:ext cx="3108960" cy="566928"/>
          </a:xfrm>
          <a:prstGeom prst="rect">
            <a:avLst/>
          </a:prstGeom>
          <a:solidFill>
            <a:srgbClr val="B0FF45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0920" y="2871215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61718"/>
                </a:solidFill>
                <a:latin typeface="Work Sans Medium"/>
              </a:rPr>
              <a:t>Raw network socket (SCPI)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9608" y="2871215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Work Sans"/>
              </a:rPr>
              <a:t>just a 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4198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Work Sans"/>
              </a:rPr>
              <a:t>|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3639311"/>
            <a:ext cx="3108960" cy="566928"/>
          </a:xfrm>
          <a:prstGeom prst="rect">
            <a:avLst/>
          </a:prstGeom>
          <a:solidFill>
            <a:srgbClr val="161718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60920" y="3639311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Work Sans Medium"/>
              </a:rPr>
              <a:t>Instrument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425695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3 layers - nothing extra to install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2004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7F7F7F"/>
                </a:solidFill>
                <a:latin typeface="Work Sans"/>
              </a:rPr>
              <a:t>vs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064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"/>
              </a:rPr>
              <a:t>Why it matters:  </a:t>
            </a:r>
            <a:r>
              <a:rPr sz="1300" b="0">
                <a:solidFill>
                  <a:srgbClr val="4D5154"/>
                </a:solidFill>
                <a:latin typeface="Work Sans"/>
              </a:rPr>
              <a:t>one fewer layer to install, license and debug on every bench - the code talks to the instrument as plainly as sending a text message.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How it fits on the bench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7794" y="1006903"/>
            <a:ext cx="4572000" cy="86868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8476" y="148132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HIL Bench  -  TestStand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8476" y="188366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28003"/>
                </a:solidFill>
                <a:latin typeface="Work Sans"/>
              </a:rPr>
              <a:t>orchestrates the whole test, hands-off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77639"/>
            <a:ext cx="2926080" cy="1051560"/>
          </a:xfrm>
          <a:prstGeom prst="rect">
            <a:avLst/>
          </a:prstGeom>
          <a:solidFill>
            <a:srgbClr val="E6E7E8"/>
          </a:solidFill>
          <a:ln w="15875">
            <a:solidFill>
              <a:srgbClr val="753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19709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61718"/>
                </a:solidFill>
                <a:latin typeface="Work Sans Medium"/>
              </a:rPr>
              <a:t>Function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99431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Work Sans"/>
              </a:rPr>
              <a:t>creates the input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78684" y="2240280"/>
            <a:ext cx="14630" cy="1737359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3977639"/>
            <a:ext cx="2926080" cy="1051560"/>
          </a:xfrm>
          <a:prstGeom prst="rect">
            <a:avLst/>
          </a:prstGeom>
          <a:solidFill>
            <a:srgbClr val="E6E7E8"/>
          </a:solidFill>
          <a:ln w="15875">
            <a:solidFill>
              <a:srgbClr val="753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19709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61718"/>
                </a:solidFill>
                <a:latin typeface="Work Sans Medium"/>
              </a:rPr>
              <a:t>ECM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599431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Work Sans"/>
              </a:rPr>
              <a:t>the unit under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9164" y="2240280"/>
            <a:ext cx="14630" cy="1737359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03920" y="3977639"/>
            <a:ext cx="2926080" cy="1051560"/>
          </a:xfrm>
          <a:prstGeom prst="rect">
            <a:avLst/>
          </a:prstGeom>
          <a:solidFill>
            <a:srgbClr val="E6E7E8"/>
          </a:solidFill>
          <a:ln w="15875">
            <a:solidFill>
              <a:srgbClr val="753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419709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61718"/>
                </a:solidFill>
                <a:latin typeface="Work Sans Medium"/>
              </a:rPr>
              <a:t>Oscilloscope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599431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Work Sans"/>
              </a:rPr>
              <a:t>captures the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59644" y="2240280"/>
            <a:ext cx="14630" cy="1737359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0" y="429767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4041647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stimulus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29767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041647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930" y="2066544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 dirty="0">
                <a:solidFill>
                  <a:srgbClr val="753DFF"/>
                </a:solidFill>
                <a:latin typeface="Work Sans"/>
              </a:rPr>
              <a:t>controls all three over the network (SCPI)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4D5154"/>
                </a:solidFill>
                <a:latin typeface="Work Sans"/>
              </a:rPr>
              <a:t>The bench runs the ECM, the generator drives it, the scope watches - and the HIL bench commands every piece. </a:t>
            </a:r>
            <a:r>
              <a:rPr sz="1300" b="1">
                <a:solidFill>
                  <a:srgbClr val="161718"/>
                </a:solidFill>
                <a:latin typeface="Work Sans"/>
              </a:rPr>
              <a:t>No manual step in between.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9FB007-BC8B-BD8C-03A8-D552DC73FB05}"/>
              </a:ext>
            </a:extLst>
          </p:cNvPr>
          <p:cNvSpPr/>
          <p:nvPr/>
        </p:nvSpPr>
        <p:spPr>
          <a:xfrm rot="3200080">
            <a:off x="2972537" y="886968"/>
            <a:ext cx="14630" cy="1737359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306531-161F-C6E4-E09C-94B47A2E0D9D}"/>
              </a:ext>
            </a:extLst>
          </p:cNvPr>
          <p:cNvSpPr/>
          <p:nvPr/>
        </p:nvSpPr>
        <p:spPr>
          <a:xfrm rot="18373563">
            <a:off x="9261880" y="868680"/>
            <a:ext cx="14630" cy="1737359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The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>
                <a:solidFill>
                  <a:srgbClr val="4D5154"/>
                </a:solidFill>
                <a:latin typeface="Work Sans"/>
              </a:rPr>
              <a:t>A small, plain-English set of calls - the same shape for every instrument.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Set up &amp; drive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84831"/>
            <a:ext cx="512064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51206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428003"/>
                </a:solidFill>
                <a:latin typeface="Consolas"/>
              </a:rPr>
              <a:t>connect(...)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00" b="0">
                <a:solidFill>
                  <a:srgbClr val="4D5154"/>
                </a:solidFill>
                <a:latin typeface="Work Sans"/>
              </a:rPr>
              <a:t>Find the instrument and open a session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428003"/>
                </a:solidFill>
                <a:latin typeface="Consolas"/>
              </a:rPr>
              <a:t>configure(...)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00" b="0">
                <a:solidFill>
                  <a:srgbClr val="4D5154"/>
                </a:solidFill>
                <a:latin typeface="Work Sans"/>
              </a:rPr>
              <a:t>Apply a saved setup; verify every setting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428003"/>
                </a:solidFill>
                <a:latin typeface="Consolas"/>
              </a:rPr>
              <a:t>generate / output_on(...)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00" b="0">
                <a:solidFill>
                  <a:srgbClr val="4D5154"/>
                </a:solidFill>
                <a:latin typeface="Work Sans"/>
              </a:rPr>
              <a:t>Drive a known signal into the ECM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428003"/>
                </a:solidFill>
                <a:latin typeface="Consolas"/>
              </a:rPr>
              <a:t>arm(...)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00" b="0">
                <a:solidFill>
                  <a:srgbClr val="4D5154"/>
                </a:solidFill>
                <a:latin typeface="Work Sans"/>
              </a:rPr>
              <a:t>Get ready to catch a one-time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69164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Capture &amp; measure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084831"/>
            <a:ext cx="539496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0" y="2240280"/>
            <a:ext cx="53949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428003"/>
                </a:solidFill>
                <a:latin typeface="Consolas"/>
              </a:rPr>
              <a:t>capture(...)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00" b="0">
                <a:solidFill>
                  <a:srgbClr val="4D5154"/>
                </a:solidFill>
                <a:latin typeface="Work Sans"/>
              </a:rPr>
              <a:t>Read the waveform into memory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428003"/>
                </a:solidFill>
                <a:latin typeface="Consolas"/>
              </a:rPr>
              <a:t>rms / frequency / delay(...)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00" b="0">
                <a:solidFill>
                  <a:srgbClr val="4D5154"/>
                </a:solidFill>
                <a:latin typeface="Work Sans"/>
              </a:rPr>
              <a:t>Pull the number the test needs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428003"/>
                </a:solidFill>
                <a:latin typeface="Consolas"/>
              </a:rPr>
              <a:t>save_png / save_csv(...)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00" b="0">
                <a:solidFill>
                  <a:srgbClr val="4D5154"/>
                </a:solidFill>
                <a:latin typeface="Work Sans"/>
              </a:rPr>
              <a:t>Store the evidence, auto-labeled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7F7F7F"/>
                </a:solidFill>
                <a:latin typeface="Work Sans"/>
              </a:rPr>
              <a:t>Each call takes a name and plain numbers - readable by anyone, not just the author.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One clean sequence,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2374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 Medium"/>
              </a:rPr>
              <a:t>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6047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find +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3412" y="301752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6020" y="237744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46020" y="252374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6020" y="283464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 Medium"/>
              </a:rPr>
              <a:t>Configure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6020" y="3566160"/>
            <a:ext cx="16047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apply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2" y="301752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37744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252374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83464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 Medium"/>
              </a:rPr>
              <a:t>Arm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566160"/>
            <a:ext cx="16047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ready to catch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8172" y="301752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0780" y="237744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40780" y="252374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80" y="283464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 Medium"/>
              </a:rP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0780" y="3566160"/>
            <a:ext cx="16047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drive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01752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37744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252374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83464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 Medium"/>
              </a:rPr>
              <a:t>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566160"/>
            <a:ext cx="16047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read waveform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2932" y="301752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35540" y="237744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35540" y="252374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5540" y="283464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 Medium"/>
              </a:rPr>
              <a:t>Save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5540" y="3566160"/>
            <a:ext cx="16047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png + 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13716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61718"/>
                </a:solidFill>
                <a:latin typeface="Work Sans Medium"/>
              </a:rPr>
              <a:t>The same six steps run every test - from connecting to the bench to saving the labeled result.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97680"/>
            <a:ext cx="10881360" cy="219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dirty="0">
                <a:solidFill>
                  <a:srgbClr val="4D5154"/>
                </a:solidFill>
                <a:latin typeface="Work Sans"/>
              </a:rPr>
              <a:t>Once the sequence starts, it runs to a saved, traceable result on its 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Results</a:t>
            </a:r>
          </a:p>
        </p:txBody>
      </p:sp>
      <p:pic>
        <p:nvPicPr>
          <p:cNvPr id="3" name="Picture 2" descr="oscope1_ch1_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160520" cy="2149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97579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Work Sans"/>
              </a:rPr>
              <a:t>Captured &amp; measured automatically</a:t>
            </a:r>
          </a:p>
        </p:txBody>
      </p:sp>
      <p:pic>
        <p:nvPicPr>
          <p:cNvPr id="5" name="Picture 4" descr="oscope2_ch1_l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79" y="1371600"/>
            <a:ext cx="4160520" cy="21496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83479" y="3497579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Work Sans"/>
              </a:rPr>
              <a:t>Timing + levels, saved as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253727" y="1371600"/>
            <a:ext cx="2798277" cy="3108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64040" y="1371600"/>
            <a:ext cx="82296" cy="310896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20072" y="15727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Why it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72" y="2057400"/>
            <a:ext cx="2204342" cy="15815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dirty="0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 dirty="0" err="1">
                <a:solidFill>
                  <a:srgbClr val="4D5154"/>
                </a:solidFill>
                <a:latin typeface="Work Sans"/>
              </a:rPr>
              <a:t>TestStand</a:t>
            </a:r>
            <a:r>
              <a:rPr sz="1150" b="0" dirty="0">
                <a:solidFill>
                  <a:srgbClr val="4D5154"/>
                </a:solidFill>
                <a:latin typeface="Work Sans"/>
              </a:rPr>
              <a:t> no longer pauses for a person to read the scope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dirty="0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 dirty="0">
                <a:solidFill>
                  <a:srgbClr val="4D5154"/>
                </a:solidFill>
                <a:latin typeface="Work Sans"/>
              </a:rPr>
              <a:t>The sequence is hands-off - end to end automated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dirty="0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 dirty="0">
                <a:solidFill>
                  <a:srgbClr val="4D5154"/>
                </a:solidFill>
                <a:latin typeface="Work Sans"/>
              </a:rPr>
              <a:t>Every result is captured, measured and saved the same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"/>
              </a:rPr>
              <a:t>The payoff:  </a:t>
            </a:r>
            <a:r>
              <a:rPr sz="1600" b="0">
                <a:solidFill>
                  <a:srgbClr val="4D5154"/>
                </a:solidFill>
                <a:latin typeface="Work Sans"/>
              </a:rPr>
              <a:t>what used to be an engineer watching a screen mid-test is now a step that runs itself - saving time on every run and making the whole sequence unattended and repeatable.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F4568-7A32-4095-A56F-6FC7C33B42A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46326FC-718E-44CC-BED1-A9F2A670D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77166" y="4185650"/>
            <a:ext cx="11117083" cy="800219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F1EFD-2D38-4486-BFF9-E7FA70661E6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ED9324-B2E2-4A85-9931-40B505EF33D5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anose="00000500000000000000" pitchFamily="2" charset="0"/>
                <a:ea typeface="+mn-ea"/>
                <a:cs typeface="+mn-cs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8/10/2026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4E0FAF-22DF-4BEB-9BE7-660DB1EF4A3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A725F3-83D0-4529-A15C-9D644B8C51E0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anose="00000500000000000000" pitchFamily="2" charset="0"/>
                <a:ea typeface="+mn-ea"/>
                <a:cs typeface="+mn-cs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722458"/>
      </p:ext>
    </p:extLst>
  </p:cSld>
  <p:clrMapOvr>
    <a:masterClrMapping/>
  </p:clrMapOvr>
</p:sld>
</file>

<file path=ppt/theme/theme1.xml><?xml version="1.0" encoding="utf-8"?>
<a:theme xmlns:a="http://schemas.openxmlformats.org/drawingml/2006/main" name="1_Theme2">
  <a:themeElements>
    <a:clrScheme name="KPIT Colour Palette">
      <a:dk1>
        <a:srgbClr val="161718"/>
      </a:dk1>
      <a:lt1>
        <a:srgbClr val="FFFFFF"/>
      </a:lt1>
      <a:dk2>
        <a:srgbClr val="4D5154"/>
      </a:dk2>
      <a:lt2>
        <a:srgbClr val="E6E7E8"/>
      </a:lt2>
      <a:accent1>
        <a:srgbClr val="B0FF45"/>
      </a:accent1>
      <a:accent2>
        <a:srgbClr val="8FDB00"/>
      </a:accent2>
      <a:accent3>
        <a:srgbClr val="428003"/>
      </a:accent3>
      <a:accent4>
        <a:srgbClr val="753DFF"/>
      </a:accent4>
      <a:accent5>
        <a:srgbClr val="622AD8"/>
      </a:accent5>
      <a:accent6>
        <a:srgbClr val="7F7F7F"/>
      </a:accent6>
      <a:hlink>
        <a:srgbClr val="753DFF"/>
      </a:hlink>
      <a:folHlink>
        <a:srgbClr val="A5A5A5"/>
      </a:folHlink>
    </a:clrScheme>
    <a:fontScheme name="KPIT">
      <a:majorFont>
        <a:latin typeface="Work Sans Medium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2" id="{CB72D8F3-45C4-4B08-858D-ABF76BE34D16}" vid="{3D118F23-D70E-4721-BE64-D354ECB70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41044ba-05f8-4ef7-90dd-670289e9285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338967516CF440A42CA4A84FDC4543" ma:contentTypeVersion="10" ma:contentTypeDescription="Create a new document." ma:contentTypeScope="" ma:versionID="550b2ce6b82b184d3f9de0d3b6e66315">
  <xsd:schema xmlns:xsd="http://www.w3.org/2001/XMLSchema" xmlns:xs="http://www.w3.org/2001/XMLSchema" xmlns:p="http://schemas.microsoft.com/office/2006/metadata/properties" xmlns:ns3="041044ba-05f8-4ef7-90dd-670289e9285c" targetNamespace="http://schemas.microsoft.com/office/2006/metadata/properties" ma:root="true" ma:fieldsID="39f3724c156efd1703499c0c2b792ce7" ns3:_="">
    <xsd:import namespace="041044ba-05f8-4ef7-90dd-670289e9285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1044ba-05f8-4ef7-90dd-670289e9285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050BF8-55F1-4092-B0EB-935D3CB463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5CB79E-81A4-4219-BB52-271B3FDC5A97}">
  <ds:schemaRefs>
    <ds:schemaRef ds:uri="041044ba-05f8-4ef7-90dd-670289e928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1262FF3-A9D0-436F-87BB-BB73B2792773}">
  <ds:schemaRefs>
    <ds:schemaRef ds:uri="041044ba-05f8-4ef7-90dd-670289e928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644</Words>
  <Application>Microsoft Office PowerPoint</Application>
  <PresentationFormat>Widescreen</PresentationFormat>
  <Paragraphs>124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Consolas</vt:lpstr>
      <vt:lpstr>Segoe UI</vt:lpstr>
      <vt:lpstr>Work Sans</vt:lpstr>
      <vt:lpstr>Work Sans Light</vt:lpstr>
      <vt:lpstr>Work Sans Medium</vt:lpstr>
      <vt:lpstr>1_Theme2</vt:lpstr>
      <vt:lpstr>Ritvik Narula</vt:lpstr>
      <vt:lpstr>The problem</vt:lpstr>
      <vt:lpstr>What, why, how</vt:lpstr>
      <vt:lpstr>Where the code sits</vt:lpstr>
      <vt:lpstr>How it fits on the bench</vt:lpstr>
      <vt:lpstr>The building blocks</vt:lpstr>
      <vt:lpstr>One clean sequence, end to end</vt:lpstr>
      <vt:lpstr>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Salil Kanade</dc:creator>
  <cp:lastModifiedBy>Narula, Ritvik</cp:lastModifiedBy>
  <cp:revision>8</cp:revision>
  <dcterms:created xsi:type="dcterms:W3CDTF">2026-03-19T06:56:57Z</dcterms:created>
  <dcterms:modified xsi:type="dcterms:W3CDTF">2026-08-10T16:09:53Z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0x01010081338967516CF440A42CA4A84FDC4543</vt:lpwstr>
  </property>
  <property fmtid="{D5CDD505-2E9C-101B-9397-08002B2CF9AE}" pid="3" name="MSIP_Label_2509429c-126f-4246-870e-ddae2f3647a6_Enabled">
    <vt:lpwstr>true</vt:lpwstr>
  </property>
  <property fmtid="{D5CDD505-2E9C-101B-9397-08002B2CF9AE}" pid="4" name="MSIP_Label_2509429c-126f-4246-870e-ddae2f3647a6_SetDate">
    <vt:lpwstr>2026-06-28T21:36:31Z</vt:lpwstr>
  </property>
  <property fmtid="{D5CDD505-2E9C-101B-9397-08002B2CF9AE}" pid="5" name="MSIP_Label_2509429c-126f-4246-870e-ddae2f3647a6_Method">
    <vt:lpwstr>Standard</vt:lpwstr>
  </property>
  <property fmtid="{D5CDD505-2E9C-101B-9397-08002B2CF9AE}" pid="6" name="MSIP_Label_2509429c-126f-4246-870e-ddae2f3647a6_Name">
    <vt:lpwstr>General</vt:lpwstr>
  </property>
  <property fmtid="{D5CDD505-2E9C-101B-9397-08002B2CF9AE}" pid="7" name="MSIP_Label_2509429c-126f-4246-870e-ddae2f3647a6_SiteId">
    <vt:lpwstr>3539451e-b46e-4a26-a242-ff61502855c7</vt:lpwstr>
  </property>
  <property fmtid="{D5CDD505-2E9C-101B-9397-08002B2CF9AE}" pid="8" name="MSIP_Label_2509429c-126f-4246-870e-ddae2f3647a6_ActionId">
    <vt:lpwstr>9839a408-39e0-4203-96a2-0c4d9e56cd17</vt:lpwstr>
  </property>
  <property fmtid="{D5CDD505-2E9C-101B-9397-08002B2CF9AE}" pid="9" name="MSIP_Label_2509429c-126f-4246-870e-ddae2f3647a6_ContentBits">
    <vt:lpwstr>0</vt:lpwstr>
  </property>
  <property fmtid="{D5CDD505-2E9C-101B-9397-08002B2CF9AE}" pid="10" name="MSIP_Label_2509429c-126f-4246-870e-ddae2f3647a6_Tag">
    <vt:lpwstr>10, 3, 0, 1</vt:lpwstr>
  </property>
</Properties>
</file>