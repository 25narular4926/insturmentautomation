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Segoe UI Semibold"/>
              </a:rPr>
              <a:t>Automating the bench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31089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Segoe UI Semibold"/>
              </a:rPr>
              <a:t>Build the instrument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3108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One library per instrument - function generator and oscilloscope.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Cross-vendor: Tektronix (AFG31102, MSO24) and Keysight (DSO-X 3034G); same calls, right SCPI per vendor.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Setup, stimulus, capture and measurement in code.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A block in the larger test API - others use its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79" y="1874519"/>
            <a:ext cx="31089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011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3774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Segoe UI Semibold"/>
              </a:rPr>
              <a:t>Manual verification doesn't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337560"/>
            <a:ext cx="3108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An engineer reads the scope by hand - slow, subjective.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Output checks can't be regressed across ECM builds.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Automation gives repeatable, tolerance-checked verdicts.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Requirement tags make results ASPICE-traceable.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874519"/>
            <a:ext cx="31089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011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3774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Segoe UI Semibold"/>
              </a:rPr>
              <a:t>SCPI over a raw socket, in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337560"/>
            <a:ext cx="3108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Pure-Python raw-socket SCPI - no VISA, no vendor DLL.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All instruments on LAN port 5025; vendor detected from *IDN?.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Captures parsed into one common Waveform object.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Configs are data (JSON); runs in pytest / Robot / TestStand.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Generator drives the ECM; the scope captures the response - both from Python over a raw socket.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60520"/>
            <a:ext cx="2834640" cy="1143000"/>
          </a:xfrm>
          <a:prstGeom prst="rect">
            <a:avLst/>
          </a:prstGeom>
          <a:solidFill>
            <a:srgbClr val="F5F8F1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16552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Segoe UI Semibold"/>
              </a:rPr>
              <a:t>Function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188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8A8A"/>
                </a:solidFill>
                <a:latin typeface="Segoe UI"/>
              </a:rPr>
              <a:t>AFG31102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4160520"/>
            <a:ext cx="2834640" cy="1143000"/>
          </a:xfrm>
          <a:prstGeom prst="rect">
            <a:avLst/>
          </a:prstGeom>
          <a:solidFill>
            <a:srgbClr val="F5F8F1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416552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Segoe UI Semibold"/>
              </a:rPr>
              <a:t>ECM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8188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8A8A"/>
                </a:solidFill>
                <a:latin typeface="Segoe UI"/>
              </a:rPr>
              <a:t>device under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4160520"/>
            <a:ext cx="2834640" cy="1143000"/>
          </a:xfrm>
          <a:prstGeom prst="rect">
            <a:avLst/>
          </a:prstGeom>
          <a:solidFill>
            <a:srgbClr val="F5F8F1"/>
          </a:solidFill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4416552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Segoe UI Semibold"/>
              </a:rPr>
              <a:t>Oscilloscope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48188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8A8A"/>
                </a:solidFill>
                <a:latin typeface="Segoe UI"/>
              </a:rPr>
              <a:t>MSO24 / DSO-X 3034G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48970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4E8A2A"/>
                </a:solidFill>
                <a:latin typeface="Segoe UI"/>
              </a:rP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33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Segoe UI"/>
              </a:rPr>
              <a:t>stimulus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48970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4E8A2A"/>
                </a:solidFill>
                <a:latin typeface="Segoe UI"/>
              </a:rP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233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Segoe U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8A8A8A"/>
                </a:solidFill>
                <a:latin typeface="Consolas"/>
              </a:rPr>
              <a:t>PyVISA-free  -  raw SCPI socket over LAN, port 5025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SOFTWARE  -  TWO LIBRARIES, ONE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240280"/>
            <a:ext cx="5120640" cy="1600200"/>
          </a:xfrm>
          <a:prstGeom prst="rect">
            <a:avLst/>
          </a:prstGeom>
          <a:solidFill>
            <a:srgbClr val="F5F8F1"/>
          </a:solidFill>
          <a:ln w="15875">
            <a:solidFill>
              <a:srgbClr val="7D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244144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DELIVERABLE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7157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Segoe UI Semibold"/>
              </a:rPr>
              <a:t>Function Generator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089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4E8A2A"/>
                </a:solidFill>
                <a:latin typeface="Segoe UI"/>
              </a:rPr>
              <a:t>-  </a:t>
            </a:r>
            <a:r>
              <a:rPr sz="1100" b="0">
                <a:solidFill>
                  <a:srgbClr val="3A3A3A"/>
                </a:solidFill>
                <a:latin typeface="Segoe UI"/>
              </a:rPr>
              <a:t>Shape, frequency, amplitude, offset, duty, pulse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4E8A2A"/>
                </a:solidFill>
                <a:latin typeface="Segoe UI"/>
              </a:rPr>
              <a:t>-  </a:t>
            </a:r>
            <a:r>
              <a:rPr sz="1100" b="0">
                <a:solidFill>
                  <a:srgbClr val="3A3A3A"/>
                </a:solidFill>
                <a:latin typeface="Segoe UI"/>
              </a:rPr>
              <a:t>Enable / disable output channels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4E8A2A"/>
                </a:solidFill>
                <a:latin typeface="Segoe UI"/>
              </a:rPr>
              <a:t>-  </a:t>
            </a:r>
            <a:r>
              <a:rPr sz="1100" b="0">
                <a:solidFill>
                  <a:srgbClr val="3A3A3A"/>
                </a:solidFill>
                <a:latin typeface="Segoe UI"/>
              </a:rPr>
              <a:t>Generate known signals for self-test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40280"/>
            <a:ext cx="5120640" cy="1600200"/>
          </a:xfrm>
          <a:prstGeom prst="rect">
            <a:avLst/>
          </a:prstGeom>
          <a:solidFill>
            <a:srgbClr val="F5F8F1"/>
          </a:solidFill>
          <a:ln w="15875">
            <a:solidFill>
              <a:srgbClr val="7D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44144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DELIVERABLE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27157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Segoe UI Semibold"/>
              </a:rPr>
              <a:t>Oscilloscope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31089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4E8A2A"/>
                </a:solidFill>
                <a:latin typeface="Segoe UI"/>
              </a:rPr>
              <a:t>-  </a:t>
            </a:r>
            <a:r>
              <a:rPr sz="1100" b="0">
                <a:solidFill>
                  <a:srgbClr val="3A3A3A"/>
                </a:solidFill>
                <a:latin typeface="Segoe UI"/>
              </a:rPr>
              <a:t>Configure channels, timebase, trigger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4E8A2A"/>
                </a:solidFill>
                <a:latin typeface="Segoe UI"/>
              </a:rPr>
              <a:t>-  </a:t>
            </a:r>
            <a:r>
              <a:rPr sz="1100" b="0">
                <a:solidFill>
                  <a:srgbClr val="3A3A3A"/>
                </a:solidFill>
                <a:latin typeface="Segoe UI"/>
              </a:rPr>
              <a:t>Acquire and parse captures -&gt; Waveform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4E8A2A"/>
                </a:solidFill>
                <a:latin typeface="Segoe UI"/>
              </a:rPr>
              <a:t>-  </a:t>
            </a:r>
            <a:r>
              <a:rPr sz="1100" b="0">
                <a:solidFill>
                  <a:srgbClr val="3A3A3A"/>
                </a:solidFill>
                <a:latin typeface="Segoe UI"/>
              </a:rPr>
              <a:t>Measure features (RMS, pulse width, ...); export CSV / 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Function libraries - the main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Every call takes an alias and primitive types; the combined module picks the driver by *IDN?.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Segoe UI Semibold"/>
              </a:rPr>
              <a:t>Function Generator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507492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074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connect_matching(alias, serial)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Open a session to a specific generator by serial.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configure_function_gen(alias, setup, ch)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Apply a named waveform config; verify read-back.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set_function_gen_waveform(alias, ch, 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Set shape / frequency / amplitude / offset directly.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function_gen_output_on / off(alias, ch)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Enable or disable an output (explicit).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function_gen_all_off()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Switch every output off - safe cleanup.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8288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Segoe UI Semibold"/>
              </a:rPr>
              <a:t>Oscilloscope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240280"/>
            <a:ext cx="507492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377440"/>
            <a:ext cx="5074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detect_bench(port) / connect_matching(...)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Find and open the instruments on the bench.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configure_scope(alias, setup, ch, horizontal_scale)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Apply a config; verify; set the window width.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capture_scope(alias, ch, single)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Acquire the record (free-run, or arm-and-wait).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scope_rms / scope_vmax / scope_pulse_width(...)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Measure features off the captured Waveform.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4E8A2A"/>
                </a:solidFill>
                <a:latin typeface="Consolas"/>
              </a:rPr>
              <a:t>save_scope_csv / save_scope_png(alias, path)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3A3A3A"/>
                </a:solidFill>
                <a:latin typeface="Segoe UI"/>
              </a:rPr>
              <a:t>Export, labeled by the scope alias.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Step 1 -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Find the instruments and open a session to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 IT ENTAILS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7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detect_bench(5025) scans the network and sends *IDN? to every host.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Whoever answers as a scope or generator is opened over a raw socket.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Vendor (Tek / Keysight) is detected from the *IDN? reply.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Each instrument is named by an alias tied to its serial - stable across IP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 TO EXPECT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67127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A list of aliases, e.g. ["oscope1", "funcgen1"].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connect_matching(alias, serial) opens one specific instrument under your 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3255263"/>
            <a:ext cx="448056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419856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ts.detect_bench(5025)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   # -&gt; ["oscope1", "funcgen1"]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ts.connect_matching("oscope1",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                    "MY64520125", 5025)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Step 2 - Configure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Apply a setup and verify every setting read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 IT ENTAILS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7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configure_scope applies a named config (vertical, timebase, trigger).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Every setting is read back off the scope and checked - PASS / FAIL.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The same call drives both vendors; the right SCPI is chosen internally.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935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HOW TO 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5852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Configs are JSON files of plain numbers. Edit them, or copy template.json and rename.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Set the capture window per call: configure_scope(..., duration_s=SECONDS).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duration_s sets s/div = duration_s / 10 (the screen has 10 divisions).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67127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True only if every setting verified.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get_scope_config_report gives the table (e.g. 13/13).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255263"/>
            <a:ext cx="448056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419856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ts.configure_scope("oscope1", "2", "1",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                   duration_s=0.02)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ts.get_scope_config_report("oscope1")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   # 13/13 settings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Config parameters - what each field expects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A scope config is a JSON file of plain numbers in the scope's native units. The capture window is NOT in the file - set it per call with duration_s.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3169920" cy="27432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316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HORIZONTAL /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16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record_length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integer, points  -  e.g. 10000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trigger_position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0-100 (%)  -  trigger's spot on screen; 10 = 10% 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sample_rate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S/s, or null  -  usually null (scope derives it)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acquire_mode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"SAMple"  -  the acquisition mode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measurement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"rms"/"delay"/...  -  a note only, no scope effect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(window)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not stored  -&gt;  configure_scope(.., duration_s=SEC)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799" y="2011680"/>
            <a:ext cx="3169920" cy="27432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799" y="2130552"/>
            <a:ext cx="316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799" y="2514600"/>
            <a:ext cx="316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trigger_source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"CH1" / "CH2"  -  channel the trigger watches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trigger_type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"EDGE"  -  only edge is supported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trigger_slope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"RISE" / "FALL"  -  which edge fires 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trigger_level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volts, or "half_battery"  -  the crossing level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trigger_mode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"AUTO" free-run  /  "NORMal" wait for event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battery_voltage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volts  -  only to resolve "half_battery"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4359" y="2011680"/>
            <a:ext cx="3169920" cy="27432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59" y="2130552"/>
            <a:ext cx="316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PER CHANNEL  (channels.1 / .2)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59" y="2514600"/>
            <a:ext cx="316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input_coupling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"DC" / "AC"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vertical_scale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V/div  -  e.g. 5.0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vertical_position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divisions  -  Tektronix (Keysight uses offset)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offset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volts, or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termination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1000000 (1 MOhm)  or  50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4E8A2A"/>
                </a:solidFill>
                <a:latin typeface="Consolas"/>
              </a:rPr>
              <a:t>bandwidth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0">
                <a:solidFill>
                  <a:srgbClr val="3A3A3A"/>
                </a:solidFill>
                <a:latin typeface="Segoe UI"/>
              </a:rPr>
              <a:t>Hz, or null  -  Tektronix input BW limit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Step 3 - Capture, measure, save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Read the record, measure it, write the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 IT ENTAILS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7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capture_scope reads the record into memory.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single=False free-runs (fast signals); single=True arms one acquisition and waits (slow / single-shot).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Measurements read the captured data: RMS, Vmax/Vmin, pulse width, mean.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save_scope_csv / save_scope_png write the waveform, alias in the file name and title.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WHAT TO EXPECT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67127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Waveform in memory; measured values.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4E8A2A"/>
                </a:solidFill>
                <a:latin typeface="Segoe UI"/>
              </a:rPr>
              <a:t>-  </a:t>
            </a:r>
            <a:r>
              <a:rPr sz="1250" b="0">
                <a:solidFill>
                  <a:srgbClr val="3A3A3A"/>
                </a:solidFill>
                <a:latin typeface="Segoe UI"/>
              </a:rPr>
              <a:t>results/&lt;alias&gt;_&lt;ch&gt;.{csv,png}.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3255263"/>
            <a:ext cx="448056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419856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ts.capture_scope("oscope1",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ts.scope_rms("oscope1", 1)      # 6.14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ts.save_scope_png("oscope1",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                  "ch1.png")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A2A2A"/>
                </a:solidFill>
                <a:latin typeface="Consolas"/>
              </a:rPr>
              <a:t>   # -&gt; results/oscope1_ch1.png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Use case - RMS voltage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3A3A3A"/>
                </a:solidFill>
                <a:latin typeface="Segoe UI"/>
              </a:rPr>
              <a:t>Measure the true RMS voltage of a signal on a scope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72384"/>
            <a:ext cx="1060704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ts.connect_matching("oscope1", "MY64520125", 5025)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ts.configure_scope("oscope1", "2",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ts.capture_scope("oscope1",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rms = ts.scope_rms("oscope1",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82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EXPECTED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9379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onsolas"/>
              </a:rPr>
              <a:t>rms  =  </a:t>
            </a:r>
            <a:r>
              <a:rPr sz="2000" b="1">
                <a:solidFill>
                  <a:srgbClr val="4E8A2A"/>
                </a:solidFill>
                <a:latin typeface="Consolas"/>
              </a:rPr>
              <a:t>6.14 V</a:t>
            </a:r>
            <a:r>
              <a:rPr sz="1400" b="0">
                <a:solidFill>
                  <a:srgbClr val="8A8A8A"/>
                </a:solidFill>
                <a:latin typeface="Segoe UI"/>
              </a:rPr>
              <a:t>      true RMS of a 0-10 V, 1 kHz sine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Use case - Pulse width (high and 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3A3A3A"/>
                </a:solidFill>
                <a:latin typeface="Segoe UI"/>
              </a:rPr>
              <a:t>Measure how long a square / pulse signal stays high and how long it stays 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72384"/>
            <a:ext cx="1060704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ts.configure_scope("oscope2", "2",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ts.capture_scope("oscope2",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pos = ts.scope_pulse_width("oscope2", 1)            # high time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neg = ts.scope_pulse_width_negative("oscope2", 1)   # low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82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EXPECTED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9379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Consolas"/>
              </a:rPr>
              <a:t>pos = </a:t>
            </a:r>
            <a:r>
              <a:rPr sz="2000" b="1">
                <a:solidFill>
                  <a:srgbClr val="4E8A2A"/>
                </a:solidFill>
                <a:latin typeface="Consolas"/>
              </a:rPr>
              <a:t>0.500 ms</a:t>
            </a:r>
            <a:r>
              <a:rPr sz="2000" b="0">
                <a:solidFill>
                  <a:srgbClr val="1A1A1A"/>
                </a:solidFill>
                <a:latin typeface="Consolas"/>
              </a:rPr>
              <a:t>     neg = </a:t>
            </a:r>
            <a:r>
              <a:rPr sz="2000" b="1">
                <a:solidFill>
                  <a:srgbClr val="4E8A2A"/>
                </a:solidFill>
                <a:latin typeface="Consolas"/>
              </a:rPr>
              <a:t>0.500 ms</a:t>
            </a:r>
            <a:r>
              <a:rPr sz="1400" b="0">
                <a:solidFill>
                  <a:srgbClr val="8A8A8A"/>
                </a:solidFill>
                <a:latin typeface="Segoe UI"/>
              </a:rPr>
              <a:t>    (1 kHz square, 50% duty)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Use case - Generator + oscilloscope (triangle sweep)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Segoe UI"/>
              </a:rPr>
              <a:t>The full pipeline: the generator drives a known waveform, the scope captures the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3A3A3A"/>
                </a:solidFill>
                <a:latin typeface="Segoe UI"/>
              </a:rPr>
              <a:t>Drive a 1 mHz triangle sweep into the ECM and capture the whole 20-minute run in one record - the self-test loopback that validates generator + scope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1060704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ts.configure_function_gen("funcgen1", "triangle_1mhz",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ts.function_gen_output_on("funcgen1", 1)                      # drive the sweep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ts.configure_scope("ecm_scope", "ecm_20min",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ts.capture_scope("ecm_scope", "1", single=True, timeout_s=1380)   # arm + wait for the run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2A2A2A"/>
                </a:solidFill>
                <a:latin typeface="Consolas"/>
              </a:rPr>
              <a:t>ts.save_scope_png("ecm_scope", "triangle.png")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spc="220">
                <a:solidFill>
                  <a:srgbClr val="4E8A2A"/>
                </a:solidFill>
                <a:latin typeface="Segoe UI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4E8A2A"/>
                </a:solidFill>
                <a:latin typeface="Segoe UI"/>
              </a:rPr>
              <a:t>-  </a:t>
            </a:r>
            <a:r>
              <a:rPr sz="1200" b="0">
                <a:solidFill>
                  <a:srgbClr val="3A3A3A"/>
                </a:solidFill>
                <a:latin typeface="Segoe UI"/>
              </a:rPr>
              <a:t>single=True arms one acquisition and blocks until the full slow record fills.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4E8A2A"/>
                </a:solidFill>
                <a:latin typeface="Segoe UI"/>
              </a:rPr>
              <a:t>-  </a:t>
            </a:r>
            <a:r>
              <a:rPr sz="1200" b="0">
                <a:solidFill>
                  <a:srgbClr val="3A3A3A"/>
                </a:solidFill>
                <a:latin typeface="Segoe UI"/>
              </a:rPr>
              <a:t>The wide 120 s/div window needs the Tektronix scope (beyond the Keysight's 50 s/div limit).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A1A1A"/>
                </a:solidFill>
                <a:latin typeface="Segoe UI Semibold"/>
              </a:rPr>
              <a:t>Results - captured off the generator -&gt; scope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194560" cy="36576"/>
          </a:xfrm>
          <a:prstGeom prst="rect">
            <a:avLst/>
          </a:prstGeom>
          <a:solidFill>
            <a:srgbClr val="7D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scope1_ch1_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5212080" cy="2692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79776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3A3A3A"/>
                </a:solidFill>
                <a:latin typeface="Consolas"/>
              </a:rPr>
              <a:t>986 pts   Vpp 10.15 V   RMS 6.14 V</a:t>
            </a:r>
          </a:p>
        </p:txBody>
      </p:sp>
      <p:pic>
        <p:nvPicPr>
          <p:cNvPr id="7" name="Picture 6" descr="oscope2_ch1_l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011680"/>
            <a:ext cx="5212080" cy="26929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59" y="479776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3A3A3A"/>
                </a:solidFill>
                <a:latin typeface="Consolas"/>
              </a:rPr>
              <a:t>10,000 pts   Vpp 10.30 V   +/-0.5 ms pulse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623560"/>
            <a:ext cx="10607040" cy="18288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4E8A2A"/>
                </a:solidFill>
                <a:latin typeface="Segoe UI Semibold"/>
              </a:rPr>
              <a:t>BENCH RESULT: PASS</a:t>
            </a:r>
            <a:r>
              <a:rPr sz="1300" b="0">
                <a:solidFill>
                  <a:srgbClr val="8A8A8A"/>
                </a:solidFill>
                <a:latin typeface="Segoe UI"/>
              </a:rPr>
              <a:t>     detected, configured (13/13 &amp; 15/15), captured, and saved - both vendors, one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