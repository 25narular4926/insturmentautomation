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640080"/>
            <a:ext cx="1060704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3400" b="1">
                <a:solidFill>
                  <a:srgbClr val="1A1A1A"/>
                </a:solidFill>
                <a:latin typeface="Segoe UI Semibold"/>
              </a:rPr>
              <a:t>Automating the bench instruments</a:t>
            </a:r>
          </a:p>
        </p:txBody>
      </p:sp>
      <p:sp>
        <p:nvSpPr>
          <p:cNvPr id="4" name="Rectangle 3"/>
          <p:cNvSpPr/>
          <p:nvPr/>
        </p:nvSpPr>
        <p:spPr>
          <a:xfrm>
            <a:off x="777240" y="1874519"/>
            <a:ext cx="3108960" cy="36576"/>
          </a:xfrm>
          <a:prstGeom prst="rect">
            <a:avLst/>
          </a:prstGeom>
          <a:solidFill>
            <a:srgbClr val="7DC2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77240" y="2011680"/>
            <a:ext cx="3108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150" b="1" spc="220">
                <a:solidFill>
                  <a:srgbClr val="4E8A2A"/>
                </a:solidFill>
                <a:latin typeface="Segoe UI"/>
              </a:rPr>
              <a:t>WHAT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2377440"/>
            <a:ext cx="310896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800" b="1">
                <a:solidFill>
                  <a:srgbClr val="1A1A1A"/>
                </a:solidFill>
                <a:latin typeface="Segoe UI Semibold"/>
              </a:rPr>
              <a:t>Build the instrument libraries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3337560"/>
            <a:ext cx="3108960" cy="3108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900"/>
              </a:spcAft>
            </a:pPr>
            <a:r>
              <a:rPr sz="1250" b="1">
                <a:solidFill>
                  <a:srgbClr val="4E8A2A"/>
                </a:solidFill>
                <a:latin typeface="Segoe UI"/>
              </a:rPr>
              <a:t>-  </a:t>
            </a:r>
            <a:r>
              <a:rPr sz="1250" b="0">
                <a:solidFill>
                  <a:srgbClr val="3A3A3A"/>
                </a:solidFill>
                <a:latin typeface="Segoe UI"/>
              </a:rPr>
              <a:t>One library per instrument - function generator and oscilloscope.</a:t>
            </a:r>
          </a:p>
          <a:p>
            <a:pPr algn="l">
              <a:lnSpc>
                <a:spcPct val="110000"/>
              </a:lnSpc>
              <a:spcAft>
                <a:spcPts val="900"/>
              </a:spcAft>
            </a:pPr>
            <a:r>
              <a:rPr sz="1250" b="1">
                <a:solidFill>
                  <a:srgbClr val="4E8A2A"/>
                </a:solidFill>
                <a:latin typeface="Segoe UI"/>
              </a:rPr>
              <a:t>-  </a:t>
            </a:r>
            <a:r>
              <a:rPr sz="1250" b="0">
                <a:solidFill>
                  <a:srgbClr val="3A3A3A"/>
                </a:solidFill>
                <a:latin typeface="Segoe UI"/>
              </a:rPr>
              <a:t>Cross-vendor: Tektronix (AFG31102, MSO24) and Keysight (DSO-X 3034G); same calls, right SCPI per vendor.</a:t>
            </a:r>
          </a:p>
          <a:p>
            <a:pPr algn="l">
              <a:lnSpc>
                <a:spcPct val="110000"/>
              </a:lnSpc>
              <a:spcAft>
                <a:spcPts val="900"/>
              </a:spcAft>
            </a:pPr>
            <a:r>
              <a:rPr sz="1250" b="1">
                <a:solidFill>
                  <a:srgbClr val="4E8A2A"/>
                </a:solidFill>
                <a:latin typeface="Segoe UI"/>
              </a:rPr>
              <a:t>-  </a:t>
            </a:r>
            <a:r>
              <a:rPr sz="1250" b="0">
                <a:solidFill>
                  <a:srgbClr val="3A3A3A"/>
                </a:solidFill>
                <a:latin typeface="Segoe UI"/>
              </a:rPr>
              <a:t>Setup, stimulus, capture and measurement in code.</a:t>
            </a:r>
          </a:p>
          <a:p>
            <a:pPr algn="l">
              <a:lnSpc>
                <a:spcPct val="110000"/>
              </a:lnSpc>
              <a:spcAft>
                <a:spcPts val="900"/>
              </a:spcAft>
            </a:pPr>
            <a:r>
              <a:rPr sz="1250" b="1">
                <a:solidFill>
                  <a:srgbClr val="4E8A2A"/>
                </a:solidFill>
                <a:latin typeface="Segoe UI"/>
              </a:rPr>
              <a:t>-  </a:t>
            </a:r>
            <a:r>
              <a:rPr sz="1250" b="0">
                <a:solidFill>
                  <a:srgbClr val="3A3A3A"/>
                </a:solidFill>
                <a:latin typeface="Segoe UI"/>
              </a:rPr>
              <a:t>A block in the larger test API - others use its output.</a:t>
            </a:r>
          </a:p>
        </p:txBody>
      </p:sp>
      <p:sp>
        <p:nvSpPr>
          <p:cNvPr id="8" name="Rectangle 7"/>
          <p:cNvSpPr/>
          <p:nvPr/>
        </p:nvSpPr>
        <p:spPr>
          <a:xfrm>
            <a:off x="4526279" y="1874519"/>
            <a:ext cx="3108960" cy="36576"/>
          </a:xfrm>
          <a:prstGeom prst="rect">
            <a:avLst/>
          </a:prstGeom>
          <a:solidFill>
            <a:srgbClr val="7DC2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526279" y="2011680"/>
            <a:ext cx="3108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150" b="1" spc="220">
                <a:solidFill>
                  <a:srgbClr val="4E8A2A"/>
                </a:solidFill>
                <a:latin typeface="Segoe UI"/>
              </a:rPr>
              <a:t>WHY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26279" y="2377440"/>
            <a:ext cx="310896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800" b="1">
                <a:solidFill>
                  <a:srgbClr val="1A1A1A"/>
                </a:solidFill>
                <a:latin typeface="Segoe UI Semibold"/>
              </a:rPr>
              <a:t>Manual verification doesn't scale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26279" y="3337560"/>
            <a:ext cx="3108960" cy="3108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900"/>
              </a:spcAft>
            </a:pPr>
            <a:r>
              <a:rPr sz="1250" b="1">
                <a:solidFill>
                  <a:srgbClr val="4E8A2A"/>
                </a:solidFill>
                <a:latin typeface="Segoe UI"/>
              </a:rPr>
              <a:t>-  </a:t>
            </a:r>
            <a:r>
              <a:rPr sz="1250" b="0">
                <a:solidFill>
                  <a:srgbClr val="3A3A3A"/>
                </a:solidFill>
                <a:latin typeface="Segoe UI"/>
              </a:rPr>
              <a:t>An engineer reads the scope by hand - slow, subjective.</a:t>
            </a:r>
          </a:p>
          <a:p>
            <a:pPr algn="l">
              <a:lnSpc>
                <a:spcPct val="110000"/>
              </a:lnSpc>
              <a:spcAft>
                <a:spcPts val="900"/>
              </a:spcAft>
            </a:pPr>
            <a:r>
              <a:rPr sz="1250" b="1">
                <a:solidFill>
                  <a:srgbClr val="4E8A2A"/>
                </a:solidFill>
                <a:latin typeface="Segoe UI"/>
              </a:rPr>
              <a:t>-  </a:t>
            </a:r>
            <a:r>
              <a:rPr sz="1250" b="0">
                <a:solidFill>
                  <a:srgbClr val="3A3A3A"/>
                </a:solidFill>
                <a:latin typeface="Segoe UI"/>
              </a:rPr>
              <a:t>Output checks can't be regressed across ECM builds.</a:t>
            </a:r>
          </a:p>
          <a:p>
            <a:pPr algn="l">
              <a:lnSpc>
                <a:spcPct val="110000"/>
              </a:lnSpc>
              <a:spcAft>
                <a:spcPts val="900"/>
              </a:spcAft>
            </a:pPr>
            <a:r>
              <a:rPr sz="1250" b="1">
                <a:solidFill>
                  <a:srgbClr val="4E8A2A"/>
                </a:solidFill>
                <a:latin typeface="Segoe UI"/>
              </a:rPr>
              <a:t>-  </a:t>
            </a:r>
            <a:r>
              <a:rPr sz="1250" b="0">
                <a:solidFill>
                  <a:srgbClr val="3A3A3A"/>
                </a:solidFill>
                <a:latin typeface="Segoe UI"/>
              </a:rPr>
              <a:t>Automation gives repeatable, tolerance-checked verdicts.</a:t>
            </a:r>
          </a:p>
          <a:p>
            <a:pPr algn="l">
              <a:lnSpc>
                <a:spcPct val="110000"/>
              </a:lnSpc>
              <a:spcAft>
                <a:spcPts val="900"/>
              </a:spcAft>
            </a:pPr>
            <a:r>
              <a:rPr sz="1250" b="1">
                <a:solidFill>
                  <a:srgbClr val="4E8A2A"/>
                </a:solidFill>
                <a:latin typeface="Segoe UI"/>
              </a:rPr>
              <a:t>-  </a:t>
            </a:r>
            <a:r>
              <a:rPr sz="1250" b="0">
                <a:solidFill>
                  <a:srgbClr val="3A3A3A"/>
                </a:solidFill>
                <a:latin typeface="Segoe UI"/>
              </a:rPr>
              <a:t>Requirement tags make results ASPICE-traceable.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275319" y="1874519"/>
            <a:ext cx="3108960" cy="36576"/>
          </a:xfrm>
          <a:prstGeom prst="rect">
            <a:avLst/>
          </a:prstGeom>
          <a:solidFill>
            <a:srgbClr val="7DC2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75319" y="2011680"/>
            <a:ext cx="3108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150" b="1" spc="220">
                <a:solidFill>
                  <a:srgbClr val="4E8A2A"/>
                </a:solidFill>
                <a:latin typeface="Segoe UI"/>
              </a:rPr>
              <a:t>HOW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275319" y="2377440"/>
            <a:ext cx="310896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800" b="1">
                <a:solidFill>
                  <a:srgbClr val="1A1A1A"/>
                </a:solidFill>
                <a:latin typeface="Segoe UI Semibold"/>
              </a:rPr>
              <a:t>SCPI over a raw socket, in Python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275319" y="3337560"/>
            <a:ext cx="3108960" cy="3108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900"/>
              </a:spcAft>
            </a:pPr>
            <a:r>
              <a:rPr sz="1250" b="1">
                <a:solidFill>
                  <a:srgbClr val="4E8A2A"/>
                </a:solidFill>
                <a:latin typeface="Segoe UI"/>
              </a:rPr>
              <a:t>-  </a:t>
            </a:r>
            <a:r>
              <a:rPr sz="1250" b="0">
                <a:solidFill>
                  <a:srgbClr val="3A3A3A"/>
                </a:solidFill>
                <a:latin typeface="Segoe UI"/>
              </a:rPr>
              <a:t>Pure-Python raw-socket SCPI - no VISA, no vendor DLL.</a:t>
            </a:r>
          </a:p>
          <a:p>
            <a:pPr algn="l">
              <a:lnSpc>
                <a:spcPct val="110000"/>
              </a:lnSpc>
              <a:spcAft>
                <a:spcPts val="900"/>
              </a:spcAft>
            </a:pPr>
            <a:r>
              <a:rPr sz="1250" b="1">
                <a:solidFill>
                  <a:srgbClr val="4E8A2A"/>
                </a:solidFill>
                <a:latin typeface="Segoe UI"/>
              </a:rPr>
              <a:t>-  </a:t>
            </a:r>
            <a:r>
              <a:rPr sz="1250" b="0">
                <a:solidFill>
                  <a:srgbClr val="3A3A3A"/>
                </a:solidFill>
                <a:latin typeface="Segoe UI"/>
              </a:rPr>
              <a:t>All instruments on LAN port 5025; vendor detected from *IDN?.</a:t>
            </a:r>
          </a:p>
          <a:p>
            <a:pPr algn="l">
              <a:lnSpc>
                <a:spcPct val="110000"/>
              </a:lnSpc>
              <a:spcAft>
                <a:spcPts val="900"/>
              </a:spcAft>
            </a:pPr>
            <a:r>
              <a:rPr sz="1250" b="1">
                <a:solidFill>
                  <a:srgbClr val="4E8A2A"/>
                </a:solidFill>
                <a:latin typeface="Segoe UI"/>
              </a:rPr>
              <a:t>-  </a:t>
            </a:r>
            <a:r>
              <a:rPr sz="1250" b="0">
                <a:solidFill>
                  <a:srgbClr val="3A3A3A"/>
                </a:solidFill>
                <a:latin typeface="Segoe UI"/>
              </a:rPr>
              <a:t>Captures parsed into one common Waveform object.</a:t>
            </a:r>
          </a:p>
          <a:p>
            <a:pPr algn="l">
              <a:lnSpc>
                <a:spcPct val="110000"/>
              </a:lnSpc>
              <a:spcAft>
                <a:spcPts val="900"/>
              </a:spcAft>
            </a:pPr>
            <a:r>
              <a:rPr sz="1250" b="1">
                <a:solidFill>
                  <a:srgbClr val="4E8A2A"/>
                </a:solidFill>
                <a:latin typeface="Segoe UI"/>
              </a:rPr>
              <a:t>-  </a:t>
            </a:r>
            <a:r>
              <a:rPr sz="1250" b="0">
                <a:solidFill>
                  <a:srgbClr val="3A3A3A"/>
                </a:solidFill>
                <a:latin typeface="Segoe UI"/>
              </a:rPr>
              <a:t>Configs are data (JSON); runs in pytest / Robot / TestStand.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502920"/>
            <a:ext cx="1060704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200"/>
              </a:spcAft>
            </a:pPr>
            <a:r>
              <a:rPr sz="3000" b="1">
                <a:solidFill>
                  <a:srgbClr val="1A1A1A"/>
                </a:solidFill>
                <a:latin typeface="Segoe UI Semibold"/>
              </a:rPr>
              <a:t>Flow</a:t>
            </a:r>
          </a:p>
        </p:txBody>
      </p:sp>
      <p:sp>
        <p:nvSpPr>
          <p:cNvPr id="4" name="Rectangle 3"/>
          <p:cNvSpPr/>
          <p:nvPr/>
        </p:nvSpPr>
        <p:spPr>
          <a:xfrm>
            <a:off x="777240" y="1371600"/>
            <a:ext cx="2194560" cy="36576"/>
          </a:xfrm>
          <a:prstGeom prst="rect">
            <a:avLst/>
          </a:prstGeom>
          <a:solidFill>
            <a:srgbClr val="7DC2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77240" y="1481328"/>
            <a:ext cx="106070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300" b="0">
                <a:solidFill>
                  <a:srgbClr val="8A8A8A"/>
                </a:solidFill>
                <a:latin typeface="Segoe UI"/>
              </a:rPr>
              <a:t>Generator drives the ECM; the scope captures the response - both from Python over a raw socket.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4160520"/>
            <a:ext cx="2834640" cy="1143000"/>
          </a:xfrm>
          <a:prstGeom prst="rect">
            <a:avLst/>
          </a:prstGeom>
          <a:solidFill>
            <a:srgbClr val="F5F8F1"/>
          </a:solidFill>
          <a:ln w="12700">
            <a:solidFill>
              <a:srgbClr val="DCDC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4416552"/>
            <a:ext cx="283464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8000"/>
              </a:lnSpc>
              <a:spcAft>
                <a:spcPts val="0"/>
              </a:spcAft>
            </a:pPr>
            <a:r>
              <a:rPr sz="1600" b="1">
                <a:solidFill>
                  <a:srgbClr val="1A1A1A"/>
                </a:solidFill>
                <a:latin typeface="Segoe UI Semibold"/>
              </a:rPr>
              <a:t>Function Generator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4818888"/>
            <a:ext cx="2834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8000"/>
              </a:lnSpc>
              <a:spcAft>
                <a:spcPts val="0"/>
              </a:spcAft>
            </a:pPr>
            <a:r>
              <a:rPr sz="1100" b="0">
                <a:solidFill>
                  <a:srgbClr val="8A8A8A"/>
                </a:solidFill>
                <a:latin typeface="Segoe UI"/>
              </a:rPr>
              <a:t>AFG31102</a:t>
            </a:r>
          </a:p>
        </p:txBody>
      </p:sp>
      <p:sp>
        <p:nvSpPr>
          <p:cNvPr id="9" name="Rectangle 8"/>
          <p:cNvSpPr/>
          <p:nvPr/>
        </p:nvSpPr>
        <p:spPr>
          <a:xfrm>
            <a:off x="4526280" y="4160520"/>
            <a:ext cx="2834640" cy="1143000"/>
          </a:xfrm>
          <a:prstGeom prst="rect">
            <a:avLst/>
          </a:prstGeom>
          <a:solidFill>
            <a:srgbClr val="F5F8F1"/>
          </a:solidFill>
          <a:ln w="12700">
            <a:solidFill>
              <a:srgbClr val="DCDC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526280" y="4416552"/>
            <a:ext cx="283464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8000"/>
              </a:lnSpc>
              <a:spcAft>
                <a:spcPts val="0"/>
              </a:spcAft>
            </a:pPr>
            <a:r>
              <a:rPr sz="1600" b="1">
                <a:solidFill>
                  <a:srgbClr val="1A1A1A"/>
                </a:solidFill>
                <a:latin typeface="Segoe UI Semibold"/>
              </a:rPr>
              <a:t>ECM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26280" y="4818888"/>
            <a:ext cx="2834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8000"/>
              </a:lnSpc>
              <a:spcAft>
                <a:spcPts val="0"/>
              </a:spcAft>
            </a:pPr>
            <a:r>
              <a:rPr sz="1100" b="0">
                <a:solidFill>
                  <a:srgbClr val="8A8A8A"/>
                </a:solidFill>
                <a:latin typeface="Segoe UI"/>
              </a:rPr>
              <a:t>device under test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275319" y="4160520"/>
            <a:ext cx="2834640" cy="1143000"/>
          </a:xfrm>
          <a:prstGeom prst="rect">
            <a:avLst/>
          </a:prstGeom>
          <a:solidFill>
            <a:srgbClr val="F5F8F1"/>
          </a:solidFill>
          <a:ln w="12700">
            <a:solidFill>
              <a:srgbClr val="DCDC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75319" y="4416552"/>
            <a:ext cx="283464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8000"/>
              </a:lnSpc>
              <a:spcAft>
                <a:spcPts val="0"/>
              </a:spcAft>
            </a:pPr>
            <a:r>
              <a:rPr sz="1600" b="1">
                <a:solidFill>
                  <a:srgbClr val="1A1A1A"/>
                </a:solidFill>
                <a:latin typeface="Segoe UI Semibold"/>
              </a:rPr>
              <a:t>Oscilloscope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275319" y="4818888"/>
            <a:ext cx="2834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8000"/>
              </a:lnSpc>
              <a:spcAft>
                <a:spcPts val="0"/>
              </a:spcAft>
            </a:pPr>
            <a:r>
              <a:rPr sz="1100" b="0">
                <a:solidFill>
                  <a:srgbClr val="8A8A8A"/>
                </a:solidFill>
                <a:latin typeface="Segoe UI"/>
              </a:rPr>
              <a:t>MSO24 / DSO-X 3034G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611880" y="4489704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8000"/>
              </a:lnSpc>
              <a:spcAft>
                <a:spcPts val="0"/>
              </a:spcAft>
            </a:pPr>
            <a:r>
              <a:rPr sz="1600" b="1">
                <a:solidFill>
                  <a:srgbClr val="4E8A2A"/>
                </a:solidFill>
                <a:latin typeface="Segoe UI"/>
              </a:rPr>
              <a:t>-&gt;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611880" y="4233672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8000"/>
              </a:lnSpc>
              <a:spcAft>
                <a:spcPts val="0"/>
              </a:spcAft>
            </a:pPr>
            <a:r>
              <a:rPr sz="950" b="0">
                <a:solidFill>
                  <a:srgbClr val="8A8A8A"/>
                </a:solidFill>
                <a:latin typeface="Segoe UI"/>
              </a:rPr>
              <a:t>stimulus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360920" y="4489704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8000"/>
              </a:lnSpc>
              <a:spcAft>
                <a:spcPts val="0"/>
              </a:spcAft>
            </a:pPr>
            <a:r>
              <a:rPr sz="1600" b="1">
                <a:solidFill>
                  <a:srgbClr val="4E8A2A"/>
                </a:solidFill>
                <a:latin typeface="Segoe UI"/>
              </a:rPr>
              <a:t>-&gt;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360920" y="4233672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8000"/>
              </a:lnSpc>
              <a:spcAft>
                <a:spcPts val="0"/>
              </a:spcAft>
            </a:pPr>
            <a:r>
              <a:rPr sz="950" b="0">
                <a:solidFill>
                  <a:srgbClr val="8A8A8A"/>
                </a:solidFill>
                <a:latin typeface="Segoe UI"/>
              </a:rPr>
              <a:t>output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77240" y="5486400"/>
            <a:ext cx="106070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8000"/>
              </a:lnSpc>
              <a:spcAft>
                <a:spcPts val="0"/>
              </a:spcAft>
            </a:pPr>
            <a:r>
              <a:rPr sz="1100" b="0">
                <a:solidFill>
                  <a:srgbClr val="8A8A8A"/>
                </a:solidFill>
                <a:latin typeface="Consolas"/>
              </a:rPr>
              <a:t>PyVISA-free  -  raw SCPI socket over LAN, port 5025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77240" y="1874519"/>
            <a:ext cx="4572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150" b="1" spc="220">
                <a:solidFill>
                  <a:srgbClr val="4E8A2A"/>
                </a:solidFill>
                <a:latin typeface="Segoe UI"/>
              </a:rPr>
              <a:t>SOFTWARE  -  TWO LIBRARIES, ONE API</a:t>
            </a:r>
          </a:p>
        </p:txBody>
      </p:sp>
      <p:sp>
        <p:nvSpPr>
          <p:cNvPr id="21" name="Rectangle 20"/>
          <p:cNvSpPr/>
          <p:nvPr/>
        </p:nvSpPr>
        <p:spPr>
          <a:xfrm>
            <a:off x="777240" y="2240280"/>
            <a:ext cx="5120640" cy="1600200"/>
          </a:xfrm>
          <a:prstGeom prst="rect">
            <a:avLst/>
          </a:prstGeom>
          <a:solidFill>
            <a:srgbClr val="F5F8F1"/>
          </a:solidFill>
          <a:ln w="15875">
            <a:solidFill>
              <a:srgbClr val="7DC24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051560" y="2441448"/>
            <a:ext cx="46634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150" b="1" spc="220">
                <a:solidFill>
                  <a:srgbClr val="4E8A2A"/>
                </a:solidFill>
                <a:latin typeface="Segoe UI"/>
              </a:rPr>
              <a:t>DELIVERABLE 01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51560" y="2715768"/>
            <a:ext cx="45720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600" b="1">
                <a:solidFill>
                  <a:srgbClr val="1A1A1A"/>
                </a:solidFill>
                <a:latin typeface="Segoe UI Semibold"/>
              </a:rPr>
              <a:t>Function Generator Library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51560" y="3108960"/>
            <a:ext cx="4572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300"/>
              </a:spcAft>
            </a:pPr>
            <a:r>
              <a:rPr sz="1100" b="1">
                <a:solidFill>
                  <a:srgbClr val="4E8A2A"/>
                </a:solidFill>
                <a:latin typeface="Segoe UI"/>
              </a:rPr>
              <a:t>-  </a:t>
            </a:r>
            <a:r>
              <a:rPr sz="1100" b="0">
                <a:solidFill>
                  <a:srgbClr val="3A3A3A"/>
                </a:solidFill>
                <a:latin typeface="Segoe UI"/>
              </a:rPr>
              <a:t>Shape, frequency, amplitude, offset, duty, pulse</a:t>
            </a:r>
          </a:p>
          <a:p>
            <a:pPr algn="l">
              <a:lnSpc>
                <a:spcPct val="110000"/>
              </a:lnSpc>
              <a:spcAft>
                <a:spcPts val="300"/>
              </a:spcAft>
            </a:pPr>
            <a:r>
              <a:rPr sz="1100" b="1">
                <a:solidFill>
                  <a:srgbClr val="4E8A2A"/>
                </a:solidFill>
                <a:latin typeface="Segoe UI"/>
              </a:rPr>
              <a:t>-  </a:t>
            </a:r>
            <a:r>
              <a:rPr sz="1100" b="0">
                <a:solidFill>
                  <a:srgbClr val="3A3A3A"/>
                </a:solidFill>
                <a:latin typeface="Segoe UI"/>
              </a:rPr>
              <a:t>Enable / disable output channels</a:t>
            </a:r>
          </a:p>
          <a:p>
            <a:pPr algn="l">
              <a:lnSpc>
                <a:spcPct val="110000"/>
              </a:lnSpc>
              <a:spcAft>
                <a:spcPts val="300"/>
              </a:spcAft>
            </a:pPr>
            <a:r>
              <a:rPr sz="1100" b="1">
                <a:solidFill>
                  <a:srgbClr val="4E8A2A"/>
                </a:solidFill>
                <a:latin typeface="Segoe UI"/>
              </a:rPr>
              <a:t>-  </a:t>
            </a:r>
            <a:r>
              <a:rPr sz="1100" b="0">
                <a:solidFill>
                  <a:srgbClr val="3A3A3A"/>
                </a:solidFill>
                <a:latin typeface="Segoe UI"/>
              </a:rPr>
              <a:t>Generate known signals for self-test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263640" y="2240280"/>
            <a:ext cx="5120640" cy="1600200"/>
          </a:xfrm>
          <a:prstGeom prst="rect">
            <a:avLst/>
          </a:prstGeom>
          <a:solidFill>
            <a:srgbClr val="F5F8F1"/>
          </a:solidFill>
          <a:ln w="15875">
            <a:solidFill>
              <a:srgbClr val="7DC24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537959" y="2441448"/>
            <a:ext cx="46634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150" b="1" spc="220">
                <a:solidFill>
                  <a:srgbClr val="4E8A2A"/>
                </a:solidFill>
                <a:latin typeface="Segoe UI"/>
              </a:rPr>
              <a:t>DELIVERABLE 02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537959" y="2715768"/>
            <a:ext cx="45720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600" b="1">
                <a:solidFill>
                  <a:srgbClr val="1A1A1A"/>
                </a:solidFill>
                <a:latin typeface="Segoe UI Semibold"/>
              </a:rPr>
              <a:t>Oscilloscope Library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537959" y="3108960"/>
            <a:ext cx="4572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300"/>
              </a:spcAft>
            </a:pPr>
            <a:r>
              <a:rPr sz="1100" b="1">
                <a:solidFill>
                  <a:srgbClr val="4E8A2A"/>
                </a:solidFill>
                <a:latin typeface="Segoe UI"/>
              </a:rPr>
              <a:t>-  </a:t>
            </a:r>
            <a:r>
              <a:rPr sz="1100" b="0">
                <a:solidFill>
                  <a:srgbClr val="3A3A3A"/>
                </a:solidFill>
                <a:latin typeface="Segoe UI"/>
              </a:rPr>
              <a:t>Configure channels, timebase, trigger</a:t>
            </a:r>
          </a:p>
          <a:p>
            <a:pPr algn="l">
              <a:lnSpc>
                <a:spcPct val="110000"/>
              </a:lnSpc>
              <a:spcAft>
                <a:spcPts val="300"/>
              </a:spcAft>
            </a:pPr>
            <a:r>
              <a:rPr sz="1100" b="1">
                <a:solidFill>
                  <a:srgbClr val="4E8A2A"/>
                </a:solidFill>
                <a:latin typeface="Segoe UI"/>
              </a:rPr>
              <a:t>-  </a:t>
            </a:r>
            <a:r>
              <a:rPr sz="1100" b="0">
                <a:solidFill>
                  <a:srgbClr val="3A3A3A"/>
                </a:solidFill>
                <a:latin typeface="Segoe UI"/>
              </a:rPr>
              <a:t>Acquire and parse captures -&gt; Waveform</a:t>
            </a:r>
          </a:p>
          <a:p>
            <a:pPr algn="l">
              <a:lnSpc>
                <a:spcPct val="110000"/>
              </a:lnSpc>
              <a:spcAft>
                <a:spcPts val="300"/>
              </a:spcAft>
            </a:pPr>
            <a:r>
              <a:rPr sz="1100" b="1">
                <a:solidFill>
                  <a:srgbClr val="4E8A2A"/>
                </a:solidFill>
                <a:latin typeface="Segoe UI"/>
              </a:rPr>
              <a:t>-  </a:t>
            </a:r>
            <a:r>
              <a:rPr sz="1100" b="0">
                <a:solidFill>
                  <a:srgbClr val="3A3A3A"/>
                </a:solidFill>
                <a:latin typeface="Segoe UI"/>
              </a:rPr>
              <a:t>Measure features (RMS, pulse width, ...); export CSV / PNG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502920"/>
            <a:ext cx="1060704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200"/>
              </a:spcAft>
            </a:pPr>
            <a:r>
              <a:rPr sz="3000" b="1">
                <a:solidFill>
                  <a:srgbClr val="1A1A1A"/>
                </a:solidFill>
                <a:latin typeface="Segoe UI Semibold"/>
              </a:rPr>
              <a:t>Function libraries - the main calls</a:t>
            </a:r>
          </a:p>
        </p:txBody>
      </p:sp>
      <p:sp>
        <p:nvSpPr>
          <p:cNvPr id="4" name="Rectangle 3"/>
          <p:cNvSpPr/>
          <p:nvPr/>
        </p:nvSpPr>
        <p:spPr>
          <a:xfrm>
            <a:off x="777240" y="1371600"/>
            <a:ext cx="2194560" cy="36576"/>
          </a:xfrm>
          <a:prstGeom prst="rect">
            <a:avLst/>
          </a:prstGeom>
          <a:solidFill>
            <a:srgbClr val="7DC2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77240" y="1481328"/>
            <a:ext cx="106070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300" b="0">
                <a:solidFill>
                  <a:srgbClr val="8A8A8A"/>
                </a:solidFill>
                <a:latin typeface="Segoe UI"/>
              </a:rPr>
              <a:t>Every call takes an alias and primitive types; the combined module picks the driver by *IDN?.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1828800"/>
            <a:ext cx="50749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700" b="1">
                <a:solidFill>
                  <a:srgbClr val="1A1A1A"/>
                </a:solidFill>
                <a:latin typeface="Segoe UI Semibold"/>
              </a:rPr>
              <a:t>Function Generator</a:t>
            </a:r>
          </a:p>
        </p:txBody>
      </p:sp>
      <p:sp>
        <p:nvSpPr>
          <p:cNvPr id="7" name="Rectangle 6"/>
          <p:cNvSpPr/>
          <p:nvPr/>
        </p:nvSpPr>
        <p:spPr>
          <a:xfrm>
            <a:off x="777240" y="2240280"/>
            <a:ext cx="5074920" cy="18288"/>
          </a:xfrm>
          <a:prstGeom prst="rect">
            <a:avLst/>
          </a:prstGeom>
          <a:solidFill>
            <a:srgbClr val="DCDC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2377440"/>
            <a:ext cx="5074920" cy="4114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100"/>
              </a:spcAft>
            </a:pPr>
            <a:r>
              <a:rPr sz="1250" b="1">
                <a:solidFill>
                  <a:srgbClr val="4E8A2A"/>
                </a:solidFill>
                <a:latin typeface="Consolas"/>
              </a:rPr>
              <a:t>connect_matching(alias, serial)</a:t>
            </a:r>
          </a:p>
          <a:p>
            <a:pPr algn="l">
              <a:lnSpc>
                <a:spcPct val="105000"/>
              </a:lnSpc>
              <a:spcAft>
                <a:spcPts val="800"/>
              </a:spcAft>
            </a:pPr>
            <a:r>
              <a:rPr sz="1150" b="0">
                <a:solidFill>
                  <a:srgbClr val="3A3A3A"/>
                </a:solidFill>
                <a:latin typeface="Segoe UI"/>
              </a:rPr>
              <a:t>Open a session to a specific generator by serial.</a:t>
            </a:r>
          </a:p>
          <a:p>
            <a:pPr algn="l">
              <a:lnSpc>
                <a:spcPct val="105000"/>
              </a:lnSpc>
              <a:spcAft>
                <a:spcPts val="100"/>
              </a:spcAft>
            </a:pPr>
            <a:r>
              <a:rPr sz="1250" b="1">
                <a:solidFill>
                  <a:srgbClr val="4E8A2A"/>
                </a:solidFill>
                <a:latin typeface="Consolas"/>
              </a:rPr>
              <a:t>configure_function_gen(alias, setup, ch)</a:t>
            </a:r>
          </a:p>
          <a:p>
            <a:pPr algn="l">
              <a:lnSpc>
                <a:spcPct val="105000"/>
              </a:lnSpc>
              <a:spcAft>
                <a:spcPts val="800"/>
              </a:spcAft>
            </a:pPr>
            <a:r>
              <a:rPr sz="1150" b="0">
                <a:solidFill>
                  <a:srgbClr val="3A3A3A"/>
                </a:solidFill>
                <a:latin typeface="Segoe UI"/>
              </a:rPr>
              <a:t>Apply a named waveform config; verify read-back.</a:t>
            </a:r>
          </a:p>
          <a:p>
            <a:pPr algn="l">
              <a:lnSpc>
                <a:spcPct val="105000"/>
              </a:lnSpc>
              <a:spcAft>
                <a:spcPts val="100"/>
              </a:spcAft>
            </a:pPr>
            <a:r>
              <a:rPr sz="1250" b="1">
                <a:solidFill>
                  <a:srgbClr val="4E8A2A"/>
                </a:solidFill>
                <a:latin typeface="Consolas"/>
              </a:rPr>
              <a:t>set_function_gen_waveform(alias, ch, ...)</a:t>
            </a:r>
          </a:p>
          <a:p>
            <a:pPr algn="l">
              <a:lnSpc>
                <a:spcPct val="105000"/>
              </a:lnSpc>
              <a:spcAft>
                <a:spcPts val="800"/>
              </a:spcAft>
            </a:pPr>
            <a:r>
              <a:rPr sz="1150" b="0">
                <a:solidFill>
                  <a:srgbClr val="3A3A3A"/>
                </a:solidFill>
                <a:latin typeface="Segoe UI"/>
              </a:rPr>
              <a:t>Set shape / frequency / amplitude / offset directly.</a:t>
            </a:r>
          </a:p>
          <a:p>
            <a:pPr algn="l">
              <a:lnSpc>
                <a:spcPct val="105000"/>
              </a:lnSpc>
              <a:spcAft>
                <a:spcPts val="100"/>
              </a:spcAft>
            </a:pPr>
            <a:r>
              <a:rPr sz="1250" b="1">
                <a:solidFill>
                  <a:srgbClr val="4E8A2A"/>
                </a:solidFill>
                <a:latin typeface="Consolas"/>
              </a:rPr>
              <a:t>function_gen_output_on / off(alias, ch)</a:t>
            </a:r>
          </a:p>
          <a:p>
            <a:pPr algn="l">
              <a:lnSpc>
                <a:spcPct val="105000"/>
              </a:lnSpc>
              <a:spcAft>
                <a:spcPts val="800"/>
              </a:spcAft>
            </a:pPr>
            <a:r>
              <a:rPr sz="1150" b="0">
                <a:solidFill>
                  <a:srgbClr val="3A3A3A"/>
                </a:solidFill>
                <a:latin typeface="Segoe UI"/>
              </a:rPr>
              <a:t>Enable or disable an output (explicit).</a:t>
            </a:r>
          </a:p>
          <a:p>
            <a:pPr algn="l">
              <a:lnSpc>
                <a:spcPct val="105000"/>
              </a:lnSpc>
              <a:spcAft>
                <a:spcPts val="100"/>
              </a:spcAft>
            </a:pPr>
            <a:r>
              <a:rPr sz="1250" b="1">
                <a:solidFill>
                  <a:srgbClr val="4E8A2A"/>
                </a:solidFill>
                <a:latin typeface="Consolas"/>
              </a:rPr>
              <a:t>function_gen_all_off()</a:t>
            </a:r>
          </a:p>
          <a:p>
            <a:pPr algn="l">
              <a:lnSpc>
                <a:spcPct val="105000"/>
              </a:lnSpc>
              <a:spcAft>
                <a:spcPts val="800"/>
              </a:spcAft>
            </a:pPr>
            <a:r>
              <a:rPr sz="1150" b="0">
                <a:solidFill>
                  <a:srgbClr val="3A3A3A"/>
                </a:solidFill>
                <a:latin typeface="Segoe UI"/>
              </a:rPr>
              <a:t>Switch every output off - safe cleanup.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309359" y="1828800"/>
            <a:ext cx="50749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700" b="1">
                <a:solidFill>
                  <a:srgbClr val="1A1A1A"/>
                </a:solidFill>
                <a:latin typeface="Segoe UI Semibold"/>
              </a:rPr>
              <a:t>Oscilloscope</a:t>
            </a:r>
          </a:p>
        </p:txBody>
      </p:sp>
      <p:sp>
        <p:nvSpPr>
          <p:cNvPr id="10" name="Rectangle 9"/>
          <p:cNvSpPr/>
          <p:nvPr/>
        </p:nvSpPr>
        <p:spPr>
          <a:xfrm>
            <a:off x="6309359" y="2240280"/>
            <a:ext cx="5074920" cy="18288"/>
          </a:xfrm>
          <a:prstGeom prst="rect">
            <a:avLst/>
          </a:prstGeom>
          <a:solidFill>
            <a:srgbClr val="DCDC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309359" y="2377440"/>
            <a:ext cx="5074920" cy="4114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100"/>
              </a:spcAft>
            </a:pPr>
            <a:r>
              <a:rPr sz="1250" b="1">
                <a:solidFill>
                  <a:srgbClr val="4E8A2A"/>
                </a:solidFill>
                <a:latin typeface="Consolas"/>
              </a:rPr>
              <a:t>detect_bench(port) / connect_matching(...)</a:t>
            </a:r>
          </a:p>
          <a:p>
            <a:pPr algn="l">
              <a:lnSpc>
                <a:spcPct val="105000"/>
              </a:lnSpc>
              <a:spcAft>
                <a:spcPts val="800"/>
              </a:spcAft>
            </a:pPr>
            <a:r>
              <a:rPr sz="1150" b="0">
                <a:solidFill>
                  <a:srgbClr val="3A3A3A"/>
                </a:solidFill>
                <a:latin typeface="Segoe UI"/>
              </a:rPr>
              <a:t>Find and open the instruments on the bench.</a:t>
            </a:r>
          </a:p>
          <a:p>
            <a:pPr algn="l">
              <a:lnSpc>
                <a:spcPct val="105000"/>
              </a:lnSpc>
              <a:spcAft>
                <a:spcPts val="100"/>
              </a:spcAft>
            </a:pPr>
            <a:r>
              <a:rPr sz="1250" b="1">
                <a:solidFill>
                  <a:srgbClr val="4E8A2A"/>
                </a:solidFill>
                <a:latin typeface="Consolas"/>
              </a:rPr>
              <a:t>configure_scope(alias, setup, ch, horizontal_scale)</a:t>
            </a:r>
          </a:p>
          <a:p>
            <a:pPr algn="l">
              <a:lnSpc>
                <a:spcPct val="105000"/>
              </a:lnSpc>
              <a:spcAft>
                <a:spcPts val="800"/>
              </a:spcAft>
            </a:pPr>
            <a:r>
              <a:rPr sz="1150" b="0">
                <a:solidFill>
                  <a:srgbClr val="3A3A3A"/>
                </a:solidFill>
                <a:latin typeface="Segoe UI"/>
              </a:rPr>
              <a:t>Apply a config; verify; set the window width.</a:t>
            </a:r>
          </a:p>
          <a:p>
            <a:pPr algn="l">
              <a:lnSpc>
                <a:spcPct val="105000"/>
              </a:lnSpc>
              <a:spcAft>
                <a:spcPts val="100"/>
              </a:spcAft>
            </a:pPr>
            <a:r>
              <a:rPr sz="1250" b="1">
                <a:solidFill>
                  <a:srgbClr val="4E8A2A"/>
                </a:solidFill>
                <a:latin typeface="Consolas"/>
              </a:rPr>
              <a:t>capture_scope(alias, ch, single)</a:t>
            </a:r>
          </a:p>
          <a:p>
            <a:pPr algn="l">
              <a:lnSpc>
                <a:spcPct val="105000"/>
              </a:lnSpc>
              <a:spcAft>
                <a:spcPts val="800"/>
              </a:spcAft>
            </a:pPr>
            <a:r>
              <a:rPr sz="1150" b="0">
                <a:solidFill>
                  <a:srgbClr val="3A3A3A"/>
                </a:solidFill>
                <a:latin typeface="Segoe UI"/>
              </a:rPr>
              <a:t>Acquire the record (free-run, or arm-and-wait).</a:t>
            </a:r>
          </a:p>
          <a:p>
            <a:pPr algn="l">
              <a:lnSpc>
                <a:spcPct val="105000"/>
              </a:lnSpc>
              <a:spcAft>
                <a:spcPts val="100"/>
              </a:spcAft>
            </a:pPr>
            <a:r>
              <a:rPr sz="1250" b="1">
                <a:solidFill>
                  <a:srgbClr val="4E8A2A"/>
                </a:solidFill>
                <a:latin typeface="Consolas"/>
              </a:rPr>
              <a:t>scope_rms / scope_vmax / scope_pulse_width(...)</a:t>
            </a:r>
          </a:p>
          <a:p>
            <a:pPr algn="l">
              <a:lnSpc>
                <a:spcPct val="105000"/>
              </a:lnSpc>
              <a:spcAft>
                <a:spcPts val="800"/>
              </a:spcAft>
            </a:pPr>
            <a:r>
              <a:rPr sz="1150" b="0">
                <a:solidFill>
                  <a:srgbClr val="3A3A3A"/>
                </a:solidFill>
                <a:latin typeface="Segoe UI"/>
              </a:rPr>
              <a:t>Measure features off the captured Waveform.</a:t>
            </a:r>
          </a:p>
          <a:p>
            <a:pPr algn="l">
              <a:lnSpc>
                <a:spcPct val="105000"/>
              </a:lnSpc>
              <a:spcAft>
                <a:spcPts val="100"/>
              </a:spcAft>
            </a:pPr>
            <a:r>
              <a:rPr sz="1250" b="1">
                <a:solidFill>
                  <a:srgbClr val="4E8A2A"/>
                </a:solidFill>
                <a:latin typeface="Consolas"/>
              </a:rPr>
              <a:t>save_scope_csv / save_scope_png(alias, path)</a:t>
            </a:r>
          </a:p>
          <a:p>
            <a:pPr algn="l">
              <a:lnSpc>
                <a:spcPct val="105000"/>
              </a:lnSpc>
              <a:spcAft>
                <a:spcPts val="800"/>
              </a:spcAft>
            </a:pPr>
            <a:r>
              <a:rPr sz="1150" b="0">
                <a:solidFill>
                  <a:srgbClr val="3A3A3A"/>
                </a:solidFill>
                <a:latin typeface="Segoe UI"/>
              </a:rPr>
              <a:t>Export, labeled by the scope alias.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502920"/>
            <a:ext cx="1060704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200"/>
              </a:spcAft>
            </a:pPr>
            <a:r>
              <a:rPr sz="3000" b="1">
                <a:solidFill>
                  <a:srgbClr val="1A1A1A"/>
                </a:solidFill>
                <a:latin typeface="Segoe UI Semibold"/>
              </a:rPr>
              <a:t>Step 1 - Connect</a:t>
            </a:r>
          </a:p>
        </p:txBody>
      </p:sp>
      <p:sp>
        <p:nvSpPr>
          <p:cNvPr id="4" name="Rectangle 3"/>
          <p:cNvSpPr/>
          <p:nvPr/>
        </p:nvSpPr>
        <p:spPr>
          <a:xfrm>
            <a:off x="777240" y="1371600"/>
            <a:ext cx="2194560" cy="36576"/>
          </a:xfrm>
          <a:prstGeom prst="rect">
            <a:avLst/>
          </a:prstGeom>
          <a:solidFill>
            <a:srgbClr val="7DC2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77240" y="1481328"/>
            <a:ext cx="106070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300" b="0">
                <a:solidFill>
                  <a:srgbClr val="8A8A8A"/>
                </a:solidFill>
                <a:latin typeface="Segoe UI"/>
              </a:rPr>
              <a:t>Find the instruments and open a session to each.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1874519"/>
            <a:ext cx="4572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150" b="1" spc="220">
                <a:solidFill>
                  <a:srgbClr val="4E8A2A"/>
                </a:solidFill>
                <a:latin typeface="Segoe UI"/>
              </a:rPr>
              <a:t>WHAT IT ENTAILS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2167127"/>
            <a:ext cx="5852160" cy="2194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700"/>
              </a:spcAft>
            </a:pPr>
            <a:r>
              <a:rPr sz="1250" b="1">
                <a:solidFill>
                  <a:srgbClr val="4E8A2A"/>
                </a:solidFill>
                <a:latin typeface="Segoe UI"/>
              </a:rPr>
              <a:t>-  </a:t>
            </a:r>
            <a:r>
              <a:rPr sz="1250" b="0">
                <a:solidFill>
                  <a:srgbClr val="3A3A3A"/>
                </a:solidFill>
                <a:latin typeface="Segoe UI"/>
              </a:rPr>
              <a:t>detect_bench(5025) scans the network and sends *IDN? to every host.</a:t>
            </a:r>
          </a:p>
          <a:p>
            <a:pPr algn="l">
              <a:lnSpc>
                <a:spcPct val="110000"/>
              </a:lnSpc>
              <a:spcAft>
                <a:spcPts val="700"/>
              </a:spcAft>
            </a:pPr>
            <a:r>
              <a:rPr sz="1250" b="1">
                <a:solidFill>
                  <a:srgbClr val="4E8A2A"/>
                </a:solidFill>
                <a:latin typeface="Segoe UI"/>
              </a:rPr>
              <a:t>-  </a:t>
            </a:r>
            <a:r>
              <a:rPr sz="1250" b="0">
                <a:solidFill>
                  <a:srgbClr val="3A3A3A"/>
                </a:solidFill>
                <a:latin typeface="Segoe UI"/>
              </a:rPr>
              <a:t>Whoever answers as a scope or generator is opened over a raw socket.</a:t>
            </a:r>
          </a:p>
          <a:p>
            <a:pPr algn="l">
              <a:lnSpc>
                <a:spcPct val="110000"/>
              </a:lnSpc>
              <a:spcAft>
                <a:spcPts val="700"/>
              </a:spcAft>
            </a:pPr>
            <a:r>
              <a:rPr sz="1250" b="1">
                <a:solidFill>
                  <a:srgbClr val="4E8A2A"/>
                </a:solidFill>
                <a:latin typeface="Segoe UI"/>
              </a:rPr>
              <a:t>-  </a:t>
            </a:r>
            <a:r>
              <a:rPr sz="1250" b="0">
                <a:solidFill>
                  <a:srgbClr val="3A3A3A"/>
                </a:solidFill>
                <a:latin typeface="Segoe UI"/>
              </a:rPr>
              <a:t>Vendor (Tek / Keysight) is detected from the *IDN? reply.</a:t>
            </a:r>
          </a:p>
          <a:p>
            <a:pPr algn="l">
              <a:lnSpc>
                <a:spcPct val="110000"/>
              </a:lnSpc>
              <a:spcAft>
                <a:spcPts val="700"/>
              </a:spcAft>
            </a:pPr>
            <a:r>
              <a:rPr sz="1250" b="1">
                <a:solidFill>
                  <a:srgbClr val="4E8A2A"/>
                </a:solidFill>
                <a:latin typeface="Segoe UI"/>
              </a:rPr>
              <a:t>-  </a:t>
            </a:r>
            <a:r>
              <a:rPr sz="1250" b="0">
                <a:solidFill>
                  <a:srgbClr val="3A3A3A"/>
                </a:solidFill>
                <a:latin typeface="Segoe UI"/>
              </a:rPr>
              <a:t>Each instrument is named by an alias tied to its serial - stable across IP changes.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0" y="1874519"/>
            <a:ext cx="4572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150" b="1" spc="220">
                <a:solidFill>
                  <a:srgbClr val="4E8A2A"/>
                </a:solidFill>
                <a:latin typeface="Segoe UI"/>
              </a:rPr>
              <a:t>WHAT TO EXPECT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949440" y="2167127"/>
            <a:ext cx="448056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700"/>
              </a:spcAft>
            </a:pPr>
            <a:r>
              <a:rPr sz="1250" b="1">
                <a:solidFill>
                  <a:srgbClr val="4E8A2A"/>
                </a:solidFill>
                <a:latin typeface="Segoe UI"/>
              </a:rPr>
              <a:t>-  </a:t>
            </a:r>
            <a:r>
              <a:rPr sz="1250" b="0">
                <a:solidFill>
                  <a:srgbClr val="3A3A3A"/>
                </a:solidFill>
                <a:latin typeface="Segoe UI"/>
              </a:rPr>
              <a:t>A list of aliases, e.g. ["oscope1", "funcgen1"].</a:t>
            </a:r>
          </a:p>
          <a:p>
            <a:pPr algn="l">
              <a:lnSpc>
                <a:spcPct val="110000"/>
              </a:lnSpc>
              <a:spcAft>
                <a:spcPts val="700"/>
              </a:spcAft>
            </a:pPr>
            <a:r>
              <a:rPr sz="1250" b="1">
                <a:solidFill>
                  <a:srgbClr val="4E8A2A"/>
                </a:solidFill>
                <a:latin typeface="Segoe UI"/>
              </a:rPr>
              <a:t>-  </a:t>
            </a:r>
            <a:r>
              <a:rPr sz="1250" b="0">
                <a:solidFill>
                  <a:srgbClr val="3A3A3A"/>
                </a:solidFill>
                <a:latin typeface="Segoe UI"/>
              </a:rPr>
              <a:t>connect_matching(alias, serial) opens one specific instrument under your name.</a:t>
            </a:r>
          </a:p>
        </p:txBody>
      </p:sp>
      <p:sp>
        <p:nvSpPr>
          <p:cNvPr id="10" name="Rectangle 9"/>
          <p:cNvSpPr/>
          <p:nvPr/>
        </p:nvSpPr>
        <p:spPr>
          <a:xfrm>
            <a:off x="6949440" y="3255263"/>
            <a:ext cx="4480560" cy="18288"/>
          </a:xfrm>
          <a:prstGeom prst="rect">
            <a:avLst/>
          </a:prstGeom>
          <a:solidFill>
            <a:srgbClr val="DCDC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949440" y="3419856"/>
            <a:ext cx="4480560" cy="2377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300"/>
              </a:spcAft>
            </a:pPr>
            <a:r>
              <a:rPr sz="1150" b="0">
                <a:solidFill>
                  <a:srgbClr val="2A2A2A"/>
                </a:solidFill>
                <a:latin typeface="Consolas"/>
              </a:rPr>
              <a:t>ts.detect_bench(5025)</a:t>
            </a:r>
          </a:p>
          <a:p>
            <a:pPr algn="l">
              <a:lnSpc>
                <a:spcPct val="112000"/>
              </a:lnSpc>
              <a:spcAft>
                <a:spcPts val="300"/>
              </a:spcAft>
            </a:pPr>
            <a:r>
              <a:rPr sz="1150" b="0">
                <a:solidFill>
                  <a:srgbClr val="2A2A2A"/>
                </a:solidFill>
                <a:latin typeface="Consolas"/>
              </a:rPr>
              <a:t>   # -&gt; ["oscope1", "funcgen1"]</a:t>
            </a:r>
          </a:p>
          <a:p>
            <a:pPr algn="l">
              <a:lnSpc>
                <a:spcPct val="112000"/>
              </a:lnSpc>
              <a:spcAft>
                <a:spcPts val="300"/>
              </a:spcAft>
            </a:pPr>
            <a:r>
              <a:rPr sz="1150" b="0">
                <a:solidFill>
                  <a:srgbClr val="2A2A2A"/>
                </a:solidFill>
                <a:latin typeface="Consolas"/>
              </a:rPr>
              <a:t/>
            </a:r>
          </a:p>
          <a:p>
            <a:pPr algn="l">
              <a:lnSpc>
                <a:spcPct val="112000"/>
              </a:lnSpc>
              <a:spcAft>
                <a:spcPts val="300"/>
              </a:spcAft>
            </a:pPr>
            <a:r>
              <a:rPr sz="1150" b="0">
                <a:solidFill>
                  <a:srgbClr val="2A2A2A"/>
                </a:solidFill>
                <a:latin typeface="Consolas"/>
              </a:rPr>
              <a:t>ts.connect_matching("oscope1",</a:t>
            </a:r>
          </a:p>
          <a:p>
            <a:pPr algn="l">
              <a:lnSpc>
                <a:spcPct val="112000"/>
              </a:lnSpc>
              <a:spcAft>
                <a:spcPts val="300"/>
              </a:spcAft>
            </a:pPr>
            <a:r>
              <a:rPr sz="1150" b="0">
                <a:solidFill>
                  <a:srgbClr val="2A2A2A"/>
                </a:solidFill>
                <a:latin typeface="Consolas"/>
              </a:rPr>
              <a:t>                    "MY64520125", 5025)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502920"/>
            <a:ext cx="1060704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200"/>
              </a:spcAft>
            </a:pPr>
            <a:r>
              <a:rPr sz="3000" b="1">
                <a:solidFill>
                  <a:srgbClr val="1A1A1A"/>
                </a:solidFill>
                <a:latin typeface="Segoe UI Semibold"/>
              </a:rPr>
              <a:t>Step 2 - Configure</a:t>
            </a:r>
          </a:p>
        </p:txBody>
      </p:sp>
      <p:sp>
        <p:nvSpPr>
          <p:cNvPr id="4" name="Rectangle 3"/>
          <p:cNvSpPr/>
          <p:nvPr/>
        </p:nvSpPr>
        <p:spPr>
          <a:xfrm>
            <a:off x="777240" y="1371600"/>
            <a:ext cx="2194560" cy="36576"/>
          </a:xfrm>
          <a:prstGeom prst="rect">
            <a:avLst/>
          </a:prstGeom>
          <a:solidFill>
            <a:srgbClr val="7DC2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77240" y="1481328"/>
            <a:ext cx="106070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300" b="0">
                <a:solidFill>
                  <a:srgbClr val="8A8A8A"/>
                </a:solidFill>
                <a:latin typeface="Segoe UI"/>
              </a:rPr>
              <a:t>Apply a setup and verify every setting read back.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1874519"/>
            <a:ext cx="4572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150" b="1" spc="220">
                <a:solidFill>
                  <a:srgbClr val="4E8A2A"/>
                </a:solidFill>
                <a:latin typeface="Segoe UI"/>
              </a:rPr>
              <a:t>WHAT IT ENTAILS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2167127"/>
            <a:ext cx="5852160" cy="2194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700"/>
              </a:spcAft>
            </a:pPr>
            <a:r>
              <a:rPr sz="1250" b="1">
                <a:solidFill>
                  <a:srgbClr val="4E8A2A"/>
                </a:solidFill>
                <a:latin typeface="Segoe UI"/>
              </a:rPr>
              <a:t>-  </a:t>
            </a:r>
            <a:r>
              <a:rPr sz="1250" b="0">
                <a:solidFill>
                  <a:srgbClr val="3A3A3A"/>
                </a:solidFill>
                <a:latin typeface="Segoe UI"/>
              </a:rPr>
              <a:t>configure_scope applies a named config (vertical, timebase, trigger).</a:t>
            </a:r>
          </a:p>
          <a:p>
            <a:pPr algn="l">
              <a:lnSpc>
                <a:spcPct val="110000"/>
              </a:lnSpc>
              <a:spcAft>
                <a:spcPts val="700"/>
              </a:spcAft>
            </a:pPr>
            <a:r>
              <a:rPr sz="1250" b="1">
                <a:solidFill>
                  <a:srgbClr val="4E8A2A"/>
                </a:solidFill>
                <a:latin typeface="Segoe UI"/>
              </a:rPr>
              <a:t>-  </a:t>
            </a:r>
            <a:r>
              <a:rPr sz="1250" b="0">
                <a:solidFill>
                  <a:srgbClr val="3A3A3A"/>
                </a:solidFill>
                <a:latin typeface="Segoe UI"/>
              </a:rPr>
              <a:t>Every setting is read back off the scope and checked - PASS / FAIL.</a:t>
            </a:r>
          </a:p>
          <a:p>
            <a:pPr algn="l">
              <a:lnSpc>
                <a:spcPct val="110000"/>
              </a:lnSpc>
              <a:spcAft>
                <a:spcPts val="700"/>
              </a:spcAft>
            </a:pPr>
            <a:r>
              <a:rPr sz="1250" b="1">
                <a:solidFill>
                  <a:srgbClr val="4E8A2A"/>
                </a:solidFill>
                <a:latin typeface="Segoe UI"/>
              </a:rPr>
              <a:t>-  </a:t>
            </a:r>
            <a:r>
              <a:rPr sz="1250" b="0">
                <a:solidFill>
                  <a:srgbClr val="3A3A3A"/>
                </a:solidFill>
                <a:latin typeface="Segoe UI"/>
              </a:rPr>
              <a:t>The same call drives both vendors; the right SCPI is chosen internally.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3593591"/>
            <a:ext cx="4572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150" b="1" spc="220">
                <a:solidFill>
                  <a:srgbClr val="4E8A2A"/>
                </a:solidFill>
                <a:latin typeface="Segoe UI"/>
              </a:rPr>
              <a:t>HOW TO CONFIGURE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3886200"/>
            <a:ext cx="5852160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700"/>
              </a:spcAft>
            </a:pPr>
            <a:r>
              <a:rPr sz="1250" b="1">
                <a:solidFill>
                  <a:srgbClr val="4E8A2A"/>
                </a:solidFill>
                <a:latin typeface="Segoe UI"/>
              </a:rPr>
              <a:t>-  </a:t>
            </a:r>
            <a:r>
              <a:rPr sz="1250" b="0">
                <a:solidFill>
                  <a:srgbClr val="3A3A3A"/>
                </a:solidFill>
                <a:latin typeface="Segoe UI"/>
              </a:rPr>
              <a:t>Configs are JSON files. Edit the plain numbers, or copy template.json and rename.</a:t>
            </a:r>
          </a:p>
          <a:p>
            <a:pPr algn="l">
              <a:lnSpc>
                <a:spcPct val="110000"/>
              </a:lnSpc>
              <a:spcAft>
                <a:spcPts val="700"/>
              </a:spcAft>
            </a:pPr>
            <a:r>
              <a:rPr sz="1250" b="1">
                <a:solidFill>
                  <a:srgbClr val="4E8A2A"/>
                </a:solidFill>
                <a:latin typeface="Segoe UI"/>
              </a:rPr>
              <a:t>-  </a:t>
            </a:r>
            <a:r>
              <a:rPr sz="1250" b="0">
                <a:solidFill>
                  <a:srgbClr val="3A3A3A"/>
                </a:solidFill>
                <a:latin typeface="Segoe UI"/>
              </a:rPr>
              <a:t>Override the window per call: configure_scope(..., horizontal_scale=0.001).</a:t>
            </a:r>
          </a:p>
          <a:p>
            <a:pPr algn="l">
              <a:lnSpc>
                <a:spcPct val="110000"/>
              </a:lnSpc>
              <a:spcAft>
                <a:spcPts val="700"/>
              </a:spcAft>
            </a:pPr>
            <a:r>
              <a:rPr sz="1250" b="1">
                <a:solidFill>
                  <a:srgbClr val="4E8A2A"/>
                </a:solidFill>
                <a:latin typeface="Segoe UI"/>
              </a:rPr>
              <a:t>-  </a:t>
            </a:r>
            <a:r>
              <a:rPr sz="1250" b="0">
                <a:solidFill>
                  <a:srgbClr val="3A3A3A"/>
                </a:solidFill>
                <a:latin typeface="Segoe UI"/>
              </a:rPr>
              <a:t>triggerModeAuto sets just AUTO trigger + window, leaving the rest as-is.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949440" y="1874519"/>
            <a:ext cx="4572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150" b="1" spc="220">
                <a:solidFill>
                  <a:srgbClr val="4E8A2A"/>
                </a:solidFill>
                <a:latin typeface="Segoe UI"/>
              </a:rPr>
              <a:t>WHAT TO EXPECT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949440" y="2167127"/>
            <a:ext cx="448056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700"/>
              </a:spcAft>
            </a:pPr>
            <a:r>
              <a:rPr sz="1250" b="1">
                <a:solidFill>
                  <a:srgbClr val="4E8A2A"/>
                </a:solidFill>
                <a:latin typeface="Segoe UI"/>
              </a:rPr>
              <a:t>-  </a:t>
            </a:r>
            <a:r>
              <a:rPr sz="1250" b="0">
                <a:solidFill>
                  <a:srgbClr val="3A3A3A"/>
                </a:solidFill>
                <a:latin typeface="Segoe UI"/>
              </a:rPr>
              <a:t>True only if every setting verified.</a:t>
            </a:r>
          </a:p>
          <a:p>
            <a:pPr algn="l">
              <a:lnSpc>
                <a:spcPct val="110000"/>
              </a:lnSpc>
              <a:spcAft>
                <a:spcPts val="700"/>
              </a:spcAft>
            </a:pPr>
            <a:r>
              <a:rPr sz="1250" b="1">
                <a:solidFill>
                  <a:srgbClr val="4E8A2A"/>
                </a:solidFill>
                <a:latin typeface="Segoe UI"/>
              </a:rPr>
              <a:t>-  </a:t>
            </a:r>
            <a:r>
              <a:rPr sz="1250" b="0">
                <a:solidFill>
                  <a:srgbClr val="3A3A3A"/>
                </a:solidFill>
                <a:latin typeface="Segoe UI"/>
              </a:rPr>
              <a:t>get_scope_config_report gives the table (e.g. 13/13).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949440" y="3255263"/>
            <a:ext cx="4480560" cy="18288"/>
          </a:xfrm>
          <a:prstGeom prst="rect">
            <a:avLst/>
          </a:prstGeom>
          <a:solidFill>
            <a:srgbClr val="DCDC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949440" y="3419856"/>
            <a:ext cx="4480560" cy="2377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300"/>
              </a:spcAft>
            </a:pPr>
            <a:r>
              <a:rPr sz="1150" b="0">
                <a:solidFill>
                  <a:srgbClr val="2A2A2A"/>
                </a:solidFill>
                <a:latin typeface="Consolas"/>
              </a:rPr>
              <a:t>ts.configure_scope("oscope1", "2", "1")</a:t>
            </a:r>
          </a:p>
          <a:p>
            <a:pPr algn="l">
              <a:lnSpc>
                <a:spcPct val="112000"/>
              </a:lnSpc>
              <a:spcAft>
                <a:spcPts val="300"/>
              </a:spcAft>
            </a:pPr>
            <a:r>
              <a:rPr sz="1150" b="0">
                <a:solidFill>
                  <a:srgbClr val="2A2A2A"/>
                </a:solidFill>
                <a:latin typeface="Consolas"/>
              </a:rPr>
              <a:t>ts.configure_scope("oscope1", "2", "1",</a:t>
            </a:r>
          </a:p>
          <a:p>
            <a:pPr algn="l">
              <a:lnSpc>
                <a:spcPct val="112000"/>
              </a:lnSpc>
              <a:spcAft>
                <a:spcPts val="300"/>
              </a:spcAft>
            </a:pPr>
            <a:r>
              <a:rPr sz="1150" b="0">
                <a:solidFill>
                  <a:srgbClr val="2A2A2A"/>
                </a:solidFill>
                <a:latin typeface="Consolas"/>
              </a:rPr>
              <a:t>                   horizontal_scale=0.001)</a:t>
            </a:r>
          </a:p>
          <a:p>
            <a:pPr algn="l">
              <a:lnSpc>
                <a:spcPct val="112000"/>
              </a:lnSpc>
              <a:spcAft>
                <a:spcPts val="300"/>
              </a:spcAft>
            </a:pPr>
            <a:r>
              <a:rPr sz="1150" b="0">
                <a:solidFill>
                  <a:srgbClr val="2A2A2A"/>
                </a:solidFill>
                <a:latin typeface="Consolas"/>
              </a:rPr>
              <a:t>ts.get_scope_config_report("oscope1")</a:t>
            </a:r>
          </a:p>
          <a:p>
            <a:pPr algn="l">
              <a:lnSpc>
                <a:spcPct val="112000"/>
              </a:lnSpc>
              <a:spcAft>
                <a:spcPts val="300"/>
              </a:spcAft>
            </a:pPr>
            <a:r>
              <a:rPr sz="1150" b="0">
                <a:solidFill>
                  <a:srgbClr val="2A2A2A"/>
                </a:solidFill>
                <a:latin typeface="Consolas"/>
              </a:rPr>
              <a:t>   # 13/13 settings verified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502920"/>
            <a:ext cx="1060704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200"/>
              </a:spcAft>
            </a:pPr>
            <a:r>
              <a:rPr sz="3000" b="1">
                <a:solidFill>
                  <a:srgbClr val="1A1A1A"/>
                </a:solidFill>
                <a:latin typeface="Segoe UI Semibold"/>
              </a:rPr>
              <a:t>Step 3 - Capture, measure, save</a:t>
            </a:r>
          </a:p>
        </p:txBody>
      </p:sp>
      <p:sp>
        <p:nvSpPr>
          <p:cNvPr id="4" name="Rectangle 3"/>
          <p:cNvSpPr/>
          <p:nvPr/>
        </p:nvSpPr>
        <p:spPr>
          <a:xfrm>
            <a:off x="777240" y="1371600"/>
            <a:ext cx="2194560" cy="36576"/>
          </a:xfrm>
          <a:prstGeom prst="rect">
            <a:avLst/>
          </a:prstGeom>
          <a:solidFill>
            <a:srgbClr val="7DC2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77240" y="1481328"/>
            <a:ext cx="106070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300" b="0">
                <a:solidFill>
                  <a:srgbClr val="8A8A8A"/>
                </a:solidFill>
                <a:latin typeface="Segoe UI"/>
              </a:rPr>
              <a:t>Read the record, measure it, write the files.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1874519"/>
            <a:ext cx="4572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150" b="1" spc="220">
                <a:solidFill>
                  <a:srgbClr val="4E8A2A"/>
                </a:solidFill>
                <a:latin typeface="Segoe UI"/>
              </a:rPr>
              <a:t>WHAT IT ENTAILS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2167127"/>
            <a:ext cx="5852160" cy="2194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700"/>
              </a:spcAft>
            </a:pPr>
            <a:r>
              <a:rPr sz="1250" b="1">
                <a:solidFill>
                  <a:srgbClr val="4E8A2A"/>
                </a:solidFill>
                <a:latin typeface="Segoe UI"/>
              </a:rPr>
              <a:t>-  </a:t>
            </a:r>
            <a:r>
              <a:rPr sz="1250" b="0">
                <a:solidFill>
                  <a:srgbClr val="3A3A3A"/>
                </a:solidFill>
                <a:latin typeface="Segoe UI"/>
              </a:rPr>
              <a:t>capture_scope reads the record into memory.</a:t>
            </a:r>
          </a:p>
          <a:p>
            <a:pPr algn="l">
              <a:lnSpc>
                <a:spcPct val="110000"/>
              </a:lnSpc>
              <a:spcAft>
                <a:spcPts val="700"/>
              </a:spcAft>
            </a:pPr>
            <a:r>
              <a:rPr sz="1250" b="1">
                <a:solidFill>
                  <a:srgbClr val="4E8A2A"/>
                </a:solidFill>
                <a:latin typeface="Segoe UI"/>
              </a:rPr>
              <a:t>-  </a:t>
            </a:r>
            <a:r>
              <a:rPr sz="1250" b="0">
                <a:solidFill>
                  <a:srgbClr val="3A3A3A"/>
                </a:solidFill>
                <a:latin typeface="Segoe UI"/>
              </a:rPr>
              <a:t>single=False free-runs (fast signals); single=True arms one acquisition and waits (slow / single-shot).</a:t>
            </a:r>
          </a:p>
          <a:p>
            <a:pPr algn="l">
              <a:lnSpc>
                <a:spcPct val="110000"/>
              </a:lnSpc>
              <a:spcAft>
                <a:spcPts val="700"/>
              </a:spcAft>
            </a:pPr>
            <a:r>
              <a:rPr sz="1250" b="1">
                <a:solidFill>
                  <a:srgbClr val="4E8A2A"/>
                </a:solidFill>
                <a:latin typeface="Segoe UI"/>
              </a:rPr>
              <a:t>-  </a:t>
            </a:r>
            <a:r>
              <a:rPr sz="1250" b="0">
                <a:solidFill>
                  <a:srgbClr val="3A3A3A"/>
                </a:solidFill>
                <a:latin typeface="Segoe UI"/>
              </a:rPr>
              <a:t>Measurements read the captured data: RMS, Vmax/Vmin, pulse width, mean.</a:t>
            </a:r>
          </a:p>
          <a:p>
            <a:pPr algn="l">
              <a:lnSpc>
                <a:spcPct val="110000"/>
              </a:lnSpc>
              <a:spcAft>
                <a:spcPts val="700"/>
              </a:spcAft>
            </a:pPr>
            <a:r>
              <a:rPr sz="1250" b="1">
                <a:solidFill>
                  <a:srgbClr val="4E8A2A"/>
                </a:solidFill>
                <a:latin typeface="Segoe UI"/>
              </a:rPr>
              <a:t>-  </a:t>
            </a:r>
            <a:r>
              <a:rPr sz="1250" b="0">
                <a:solidFill>
                  <a:srgbClr val="3A3A3A"/>
                </a:solidFill>
                <a:latin typeface="Segoe UI"/>
              </a:rPr>
              <a:t>save_scope_csv / save_scope_png write the waveform, alias in the file name and title.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0" y="1874519"/>
            <a:ext cx="4572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150" b="1" spc="220">
                <a:solidFill>
                  <a:srgbClr val="4E8A2A"/>
                </a:solidFill>
                <a:latin typeface="Segoe UI"/>
              </a:rPr>
              <a:t>WHAT TO EXPECT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949440" y="2167127"/>
            <a:ext cx="448056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700"/>
              </a:spcAft>
            </a:pPr>
            <a:r>
              <a:rPr sz="1250" b="1">
                <a:solidFill>
                  <a:srgbClr val="4E8A2A"/>
                </a:solidFill>
                <a:latin typeface="Segoe UI"/>
              </a:rPr>
              <a:t>-  </a:t>
            </a:r>
            <a:r>
              <a:rPr sz="1250" b="0">
                <a:solidFill>
                  <a:srgbClr val="3A3A3A"/>
                </a:solidFill>
                <a:latin typeface="Segoe UI"/>
              </a:rPr>
              <a:t>Waveform in memory; measured values.</a:t>
            </a:r>
          </a:p>
          <a:p>
            <a:pPr algn="l">
              <a:lnSpc>
                <a:spcPct val="110000"/>
              </a:lnSpc>
              <a:spcAft>
                <a:spcPts val="700"/>
              </a:spcAft>
            </a:pPr>
            <a:r>
              <a:rPr sz="1250" b="1">
                <a:solidFill>
                  <a:srgbClr val="4E8A2A"/>
                </a:solidFill>
                <a:latin typeface="Segoe UI"/>
              </a:rPr>
              <a:t>-  </a:t>
            </a:r>
            <a:r>
              <a:rPr sz="1250" b="0">
                <a:solidFill>
                  <a:srgbClr val="3A3A3A"/>
                </a:solidFill>
                <a:latin typeface="Segoe UI"/>
              </a:rPr>
              <a:t>results/&lt;alias&gt;_&lt;ch&gt;.{csv,png}.</a:t>
            </a:r>
          </a:p>
        </p:txBody>
      </p:sp>
      <p:sp>
        <p:nvSpPr>
          <p:cNvPr id="10" name="Rectangle 9"/>
          <p:cNvSpPr/>
          <p:nvPr/>
        </p:nvSpPr>
        <p:spPr>
          <a:xfrm>
            <a:off x="6949440" y="3255263"/>
            <a:ext cx="4480560" cy="18288"/>
          </a:xfrm>
          <a:prstGeom prst="rect">
            <a:avLst/>
          </a:prstGeom>
          <a:solidFill>
            <a:srgbClr val="DCDC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949440" y="3419856"/>
            <a:ext cx="4480560" cy="2377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300"/>
              </a:spcAft>
            </a:pPr>
            <a:r>
              <a:rPr sz="1150" b="0">
                <a:solidFill>
                  <a:srgbClr val="2A2A2A"/>
                </a:solidFill>
                <a:latin typeface="Consolas"/>
              </a:rPr>
              <a:t>ts.capture_scope("oscope1", "1")</a:t>
            </a:r>
          </a:p>
          <a:p>
            <a:pPr algn="l">
              <a:lnSpc>
                <a:spcPct val="112000"/>
              </a:lnSpc>
              <a:spcAft>
                <a:spcPts val="300"/>
              </a:spcAft>
            </a:pPr>
            <a:r>
              <a:rPr sz="1150" b="0">
                <a:solidFill>
                  <a:srgbClr val="2A2A2A"/>
                </a:solidFill>
                <a:latin typeface="Consolas"/>
              </a:rPr>
              <a:t>ts.scope_rms("oscope1", 1)      # 6.14</a:t>
            </a:r>
          </a:p>
          <a:p>
            <a:pPr algn="l">
              <a:lnSpc>
                <a:spcPct val="112000"/>
              </a:lnSpc>
              <a:spcAft>
                <a:spcPts val="300"/>
              </a:spcAft>
            </a:pPr>
            <a:r>
              <a:rPr sz="1150" b="0">
                <a:solidFill>
                  <a:srgbClr val="2A2A2A"/>
                </a:solidFill>
                <a:latin typeface="Consolas"/>
              </a:rPr>
              <a:t>ts.save_scope_png("oscope1",</a:t>
            </a:r>
          </a:p>
          <a:p>
            <a:pPr algn="l">
              <a:lnSpc>
                <a:spcPct val="112000"/>
              </a:lnSpc>
              <a:spcAft>
                <a:spcPts val="300"/>
              </a:spcAft>
            </a:pPr>
            <a:r>
              <a:rPr sz="1150" b="0">
                <a:solidFill>
                  <a:srgbClr val="2A2A2A"/>
                </a:solidFill>
                <a:latin typeface="Consolas"/>
              </a:rPr>
              <a:t>                  "ch1.png")</a:t>
            </a:r>
          </a:p>
          <a:p>
            <a:pPr algn="l">
              <a:lnSpc>
                <a:spcPct val="112000"/>
              </a:lnSpc>
              <a:spcAft>
                <a:spcPts val="300"/>
              </a:spcAft>
            </a:pPr>
            <a:r>
              <a:rPr sz="1150" b="0">
                <a:solidFill>
                  <a:srgbClr val="2A2A2A"/>
                </a:solidFill>
                <a:latin typeface="Consolas"/>
              </a:rPr>
              <a:t>   # -&gt; results/oscope1_ch1.png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502920"/>
            <a:ext cx="1060704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200"/>
              </a:spcAft>
            </a:pPr>
            <a:r>
              <a:rPr sz="3000" b="1">
                <a:solidFill>
                  <a:srgbClr val="1A1A1A"/>
                </a:solidFill>
                <a:latin typeface="Segoe UI Semibold"/>
              </a:rPr>
              <a:t>Use case - RMS voltage</a:t>
            </a:r>
          </a:p>
        </p:txBody>
      </p:sp>
      <p:sp>
        <p:nvSpPr>
          <p:cNvPr id="4" name="Rectangle 3"/>
          <p:cNvSpPr/>
          <p:nvPr/>
        </p:nvSpPr>
        <p:spPr>
          <a:xfrm>
            <a:off x="777240" y="1371600"/>
            <a:ext cx="2194560" cy="36576"/>
          </a:xfrm>
          <a:prstGeom prst="rect">
            <a:avLst/>
          </a:prstGeom>
          <a:solidFill>
            <a:srgbClr val="7DC2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77240" y="1828800"/>
            <a:ext cx="4572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150" b="1" spc="220">
                <a:solidFill>
                  <a:srgbClr val="4E8A2A"/>
                </a:solidFill>
                <a:latin typeface="Segoe UI"/>
              </a:rPr>
              <a:t>OBJECTIVE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2121408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500" b="0">
                <a:solidFill>
                  <a:srgbClr val="3A3A3A"/>
                </a:solidFill>
                <a:latin typeface="Segoe UI"/>
              </a:rPr>
              <a:t>Measure the true RMS voltage of a signal on a scope channel.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2788920"/>
            <a:ext cx="4572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150" b="1" spc="220">
                <a:solidFill>
                  <a:srgbClr val="4E8A2A"/>
                </a:solidFill>
                <a:latin typeface="Segoe UI"/>
              </a:rPr>
              <a:t>STEPS</a:t>
            </a:r>
          </a:p>
        </p:txBody>
      </p:sp>
      <p:sp>
        <p:nvSpPr>
          <p:cNvPr id="8" name="Rectangle 7"/>
          <p:cNvSpPr/>
          <p:nvPr/>
        </p:nvSpPr>
        <p:spPr>
          <a:xfrm>
            <a:off x="777240" y="3072384"/>
            <a:ext cx="10607040" cy="18288"/>
          </a:xfrm>
          <a:prstGeom prst="rect">
            <a:avLst/>
          </a:prstGeom>
          <a:solidFill>
            <a:srgbClr val="DCDC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77240" y="3200400"/>
            <a:ext cx="10607040" cy="2194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300"/>
              </a:spcAft>
            </a:pPr>
            <a:r>
              <a:rPr sz="1250" b="0">
                <a:solidFill>
                  <a:srgbClr val="2A2A2A"/>
                </a:solidFill>
                <a:latin typeface="Consolas"/>
              </a:rPr>
              <a:t>ts.connect_matching("oscope1", "MY64520125", 5025)</a:t>
            </a:r>
          </a:p>
          <a:p>
            <a:pPr algn="l">
              <a:lnSpc>
                <a:spcPct val="112000"/>
              </a:lnSpc>
              <a:spcAft>
                <a:spcPts val="300"/>
              </a:spcAft>
            </a:pPr>
            <a:r>
              <a:rPr sz="1250" b="0">
                <a:solidFill>
                  <a:srgbClr val="2A2A2A"/>
                </a:solidFill>
                <a:latin typeface="Consolas"/>
              </a:rPr>
              <a:t>ts.configure_scope("oscope1", "2", "1")</a:t>
            </a:r>
          </a:p>
          <a:p>
            <a:pPr algn="l">
              <a:lnSpc>
                <a:spcPct val="112000"/>
              </a:lnSpc>
              <a:spcAft>
                <a:spcPts val="300"/>
              </a:spcAft>
            </a:pPr>
            <a:r>
              <a:rPr sz="1250" b="0">
                <a:solidFill>
                  <a:srgbClr val="2A2A2A"/>
                </a:solidFill>
                <a:latin typeface="Consolas"/>
              </a:rPr>
              <a:t>ts.capture_scope("oscope1", "1")</a:t>
            </a:r>
          </a:p>
          <a:p>
            <a:pPr algn="l">
              <a:lnSpc>
                <a:spcPct val="112000"/>
              </a:lnSpc>
              <a:spcAft>
                <a:spcPts val="300"/>
              </a:spcAft>
            </a:pPr>
            <a:r>
              <a:rPr sz="1250" b="0">
                <a:solidFill>
                  <a:srgbClr val="2A2A2A"/>
                </a:solidFill>
                <a:latin typeface="Consolas"/>
              </a:rPr>
              <a:t>rms = ts.scope_rms("oscope1", 1)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4882896"/>
            <a:ext cx="4572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150" b="1" spc="220">
                <a:solidFill>
                  <a:srgbClr val="4E8A2A"/>
                </a:solidFill>
                <a:latin typeface="Segoe UI"/>
              </a:rPr>
              <a:t>EXPECTED RESULT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5193792"/>
            <a:ext cx="1060704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2000" b="0">
                <a:solidFill>
                  <a:srgbClr val="1A1A1A"/>
                </a:solidFill>
                <a:latin typeface="Consolas"/>
              </a:rPr>
              <a:t>rms  =  </a:t>
            </a:r>
            <a:r>
              <a:rPr sz="2000" b="1">
                <a:solidFill>
                  <a:srgbClr val="4E8A2A"/>
                </a:solidFill>
                <a:latin typeface="Consolas"/>
              </a:rPr>
              <a:t>6.14 V</a:t>
            </a:r>
            <a:r>
              <a:rPr sz="1400" b="0">
                <a:solidFill>
                  <a:srgbClr val="8A8A8A"/>
                </a:solidFill>
                <a:latin typeface="Segoe UI"/>
              </a:rPr>
              <a:t>      true RMS of a 0-10 V, 1 kHz sine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502920"/>
            <a:ext cx="1060704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200"/>
              </a:spcAft>
            </a:pPr>
            <a:r>
              <a:rPr sz="3000" b="1">
                <a:solidFill>
                  <a:srgbClr val="1A1A1A"/>
                </a:solidFill>
                <a:latin typeface="Segoe UI Semibold"/>
              </a:rPr>
              <a:t>Use case - Pulse width (high and low)</a:t>
            </a:r>
          </a:p>
        </p:txBody>
      </p:sp>
      <p:sp>
        <p:nvSpPr>
          <p:cNvPr id="4" name="Rectangle 3"/>
          <p:cNvSpPr/>
          <p:nvPr/>
        </p:nvSpPr>
        <p:spPr>
          <a:xfrm>
            <a:off x="777240" y="1371600"/>
            <a:ext cx="2194560" cy="36576"/>
          </a:xfrm>
          <a:prstGeom prst="rect">
            <a:avLst/>
          </a:prstGeom>
          <a:solidFill>
            <a:srgbClr val="7DC2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77240" y="1828800"/>
            <a:ext cx="4572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150" b="1" spc="220">
                <a:solidFill>
                  <a:srgbClr val="4E8A2A"/>
                </a:solidFill>
                <a:latin typeface="Segoe UI"/>
              </a:rPr>
              <a:t>OBJECTIVE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2121408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500" b="0">
                <a:solidFill>
                  <a:srgbClr val="3A3A3A"/>
                </a:solidFill>
                <a:latin typeface="Segoe UI"/>
              </a:rPr>
              <a:t>Measure how long a square / pulse signal stays high and how long it stays low.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2788920"/>
            <a:ext cx="4572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150" b="1" spc="220">
                <a:solidFill>
                  <a:srgbClr val="4E8A2A"/>
                </a:solidFill>
                <a:latin typeface="Segoe UI"/>
              </a:rPr>
              <a:t>STEPS</a:t>
            </a:r>
          </a:p>
        </p:txBody>
      </p:sp>
      <p:sp>
        <p:nvSpPr>
          <p:cNvPr id="8" name="Rectangle 7"/>
          <p:cNvSpPr/>
          <p:nvPr/>
        </p:nvSpPr>
        <p:spPr>
          <a:xfrm>
            <a:off x="777240" y="3072384"/>
            <a:ext cx="10607040" cy="18288"/>
          </a:xfrm>
          <a:prstGeom prst="rect">
            <a:avLst/>
          </a:prstGeom>
          <a:solidFill>
            <a:srgbClr val="DCDC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77240" y="3200400"/>
            <a:ext cx="10607040" cy="2194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300"/>
              </a:spcAft>
            </a:pPr>
            <a:r>
              <a:rPr sz="1250" b="0">
                <a:solidFill>
                  <a:srgbClr val="2A2A2A"/>
                </a:solidFill>
                <a:latin typeface="Consolas"/>
              </a:rPr>
              <a:t>ts.configure_scope("oscope2", "2", "1")</a:t>
            </a:r>
          </a:p>
          <a:p>
            <a:pPr algn="l">
              <a:lnSpc>
                <a:spcPct val="112000"/>
              </a:lnSpc>
              <a:spcAft>
                <a:spcPts val="300"/>
              </a:spcAft>
            </a:pPr>
            <a:r>
              <a:rPr sz="1250" b="0">
                <a:solidFill>
                  <a:srgbClr val="2A2A2A"/>
                </a:solidFill>
                <a:latin typeface="Consolas"/>
              </a:rPr>
              <a:t>ts.capture_scope("oscope2", "1")</a:t>
            </a:r>
          </a:p>
          <a:p>
            <a:pPr algn="l">
              <a:lnSpc>
                <a:spcPct val="112000"/>
              </a:lnSpc>
              <a:spcAft>
                <a:spcPts val="300"/>
              </a:spcAft>
            </a:pPr>
            <a:r>
              <a:rPr sz="1250" b="0">
                <a:solidFill>
                  <a:srgbClr val="2A2A2A"/>
                </a:solidFill>
                <a:latin typeface="Consolas"/>
              </a:rPr>
              <a:t>pos = ts.scope_pulse_width("oscope2", 1)            # high time</a:t>
            </a:r>
          </a:p>
          <a:p>
            <a:pPr algn="l">
              <a:lnSpc>
                <a:spcPct val="112000"/>
              </a:lnSpc>
              <a:spcAft>
                <a:spcPts val="300"/>
              </a:spcAft>
            </a:pPr>
            <a:r>
              <a:rPr sz="1250" b="0">
                <a:solidFill>
                  <a:srgbClr val="2A2A2A"/>
                </a:solidFill>
                <a:latin typeface="Consolas"/>
              </a:rPr>
              <a:t>neg = ts.scope_pulse_width_negative("oscope2", 1)   # low time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4882896"/>
            <a:ext cx="4572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150" b="1" spc="220">
                <a:solidFill>
                  <a:srgbClr val="4E8A2A"/>
                </a:solidFill>
                <a:latin typeface="Segoe UI"/>
              </a:rPr>
              <a:t>EXPECTED RESULT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5193792"/>
            <a:ext cx="1060704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2000" b="0">
                <a:solidFill>
                  <a:srgbClr val="1A1A1A"/>
                </a:solidFill>
                <a:latin typeface="Consolas"/>
              </a:rPr>
              <a:t>pos = </a:t>
            </a:r>
            <a:r>
              <a:rPr sz="2000" b="1">
                <a:solidFill>
                  <a:srgbClr val="4E8A2A"/>
                </a:solidFill>
                <a:latin typeface="Consolas"/>
              </a:rPr>
              <a:t>0.500 ms</a:t>
            </a:r>
            <a:r>
              <a:rPr sz="2000" b="0">
                <a:solidFill>
                  <a:srgbClr val="1A1A1A"/>
                </a:solidFill>
                <a:latin typeface="Consolas"/>
              </a:rPr>
              <a:t>     neg = </a:t>
            </a:r>
            <a:r>
              <a:rPr sz="2000" b="1">
                <a:solidFill>
                  <a:srgbClr val="4E8A2A"/>
                </a:solidFill>
                <a:latin typeface="Consolas"/>
              </a:rPr>
              <a:t>0.500 ms</a:t>
            </a:r>
            <a:r>
              <a:rPr sz="1400" b="0">
                <a:solidFill>
                  <a:srgbClr val="8A8A8A"/>
                </a:solidFill>
                <a:latin typeface="Segoe UI"/>
              </a:rPr>
              <a:t>    (1 kHz square, 50% duty)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502920"/>
            <a:ext cx="1060704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200"/>
              </a:spcAft>
            </a:pPr>
            <a:r>
              <a:rPr sz="3000" b="1">
                <a:solidFill>
                  <a:srgbClr val="1A1A1A"/>
                </a:solidFill>
                <a:latin typeface="Segoe UI Semibold"/>
              </a:rPr>
              <a:t>Use case - Generator + oscilloscope (triangle sweep)</a:t>
            </a:r>
          </a:p>
        </p:txBody>
      </p:sp>
      <p:sp>
        <p:nvSpPr>
          <p:cNvPr id="4" name="Rectangle 3"/>
          <p:cNvSpPr/>
          <p:nvPr/>
        </p:nvSpPr>
        <p:spPr>
          <a:xfrm>
            <a:off x="777240" y="1371600"/>
            <a:ext cx="2194560" cy="36576"/>
          </a:xfrm>
          <a:prstGeom prst="rect">
            <a:avLst/>
          </a:prstGeom>
          <a:solidFill>
            <a:srgbClr val="7DC2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77240" y="1481328"/>
            <a:ext cx="106070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300" b="0">
                <a:solidFill>
                  <a:srgbClr val="8A8A8A"/>
                </a:solidFill>
                <a:latin typeface="Segoe UI"/>
              </a:rPr>
              <a:t>The full pipeline: the generator drives a known waveform, the scope captures the response.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1828800"/>
            <a:ext cx="4572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150" b="1" spc="220">
                <a:solidFill>
                  <a:srgbClr val="4E8A2A"/>
                </a:solidFill>
                <a:latin typeface="Segoe UI"/>
              </a:rPr>
              <a:t>OBJECTIVE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2121408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450" b="0">
                <a:solidFill>
                  <a:srgbClr val="3A3A3A"/>
                </a:solidFill>
                <a:latin typeface="Segoe UI"/>
              </a:rPr>
              <a:t>Drive a 1 mHz triangle sweep into the ECM and capture the whole 20-minute run in one record - the self-test loopback that validates generator + scope end to end.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2880360"/>
            <a:ext cx="4572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150" b="1" spc="220">
                <a:solidFill>
                  <a:srgbClr val="4E8A2A"/>
                </a:solidFill>
                <a:latin typeface="Segoe UI"/>
              </a:rPr>
              <a:t>STEPS</a:t>
            </a:r>
          </a:p>
        </p:txBody>
      </p:sp>
      <p:sp>
        <p:nvSpPr>
          <p:cNvPr id="9" name="Rectangle 8"/>
          <p:cNvSpPr/>
          <p:nvPr/>
        </p:nvSpPr>
        <p:spPr>
          <a:xfrm>
            <a:off x="777240" y="3163824"/>
            <a:ext cx="10607040" cy="18288"/>
          </a:xfrm>
          <a:prstGeom prst="rect">
            <a:avLst/>
          </a:prstGeom>
          <a:solidFill>
            <a:srgbClr val="DCDC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77240" y="3291840"/>
            <a:ext cx="10607040" cy="2377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300"/>
              </a:spcAft>
            </a:pPr>
            <a:r>
              <a:rPr sz="1250" b="0">
                <a:solidFill>
                  <a:srgbClr val="2A2A2A"/>
                </a:solidFill>
                <a:latin typeface="Consolas"/>
              </a:rPr>
              <a:t>ts.configure_function_gen("funcgen1", "triangle_1mhz", "1")</a:t>
            </a:r>
          </a:p>
          <a:p>
            <a:pPr algn="l">
              <a:lnSpc>
                <a:spcPct val="112000"/>
              </a:lnSpc>
              <a:spcAft>
                <a:spcPts val="300"/>
              </a:spcAft>
            </a:pPr>
            <a:r>
              <a:rPr sz="1250" b="0">
                <a:solidFill>
                  <a:srgbClr val="2A2A2A"/>
                </a:solidFill>
                <a:latin typeface="Consolas"/>
              </a:rPr>
              <a:t>ts.function_gen_output_on("funcgen1", 1)                      # drive the sweep</a:t>
            </a:r>
          </a:p>
          <a:p>
            <a:pPr algn="l">
              <a:lnSpc>
                <a:spcPct val="112000"/>
              </a:lnSpc>
              <a:spcAft>
                <a:spcPts val="300"/>
              </a:spcAft>
            </a:pPr>
            <a:r>
              <a:rPr sz="1250" b="0">
                <a:solidFill>
                  <a:srgbClr val="2A2A2A"/>
                </a:solidFill>
                <a:latin typeface="Consolas"/>
              </a:rPr>
              <a:t>ts.configure_scope("ecm_scope", "ecm_20min", "1")</a:t>
            </a:r>
          </a:p>
          <a:p>
            <a:pPr algn="l">
              <a:lnSpc>
                <a:spcPct val="112000"/>
              </a:lnSpc>
              <a:spcAft>
                <a:spcPts val="300"/>
              </a:spcAft>
            </a:pPr>
            <a:r>
              <a:rPr sz="1250" b="0">
                <a:solidFill>
                  <a:srgbClr val="2A2A2A"/>
                </a:solidFill>
                <a:latin typeface="Consolas"/>
              </a:rPr>
              <a:t>ts.capture_scope("ecm_scope", "1", single=True, timeout_s=1380)   # arm + wait for the run</a:t>
            </a:r>
          </a:p>
          <a:p>
            <a:pPr algn="l">
              <a:lnSpc>
                <a:spcPct val="112000"/>
              </a:lnSpc>
              <a:spcAft>
                <a:spcPts val="300"/>
              </a:spcAft>
            </a:pPr>
            <a:r>
              <a:rPr sz="1250" b="0">
                <a:solidFill>
                  <a:srgbClr val="2A2A2A"/>
                </a:solidFill>
                <a:latin typeface="Consolas"/>
              </a:rPr>
              <a:t>ts.save_scope_png("ecm_scope", "triangle.png")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5532120"/>
            <a:ext cx="4572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150" b="1" spc="220">
                <a:solidFill>
                  <a:srgbClr val="4E8A2A"/>
                </a:solidFill>
                <a:latin typeface="Segoe UI"/>
              </a:rPr>
              <a:t>KEY POINTS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" y="5806440"/>
            <a:ext cx="1060704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200" b="1">
                <a:solidFill>
                  <a:srgbClr val="4E8A2A"/>
                </a:solidFill>
                <a:latin typeface="Segoe UI"/>
              </a:rPr>
              <a:t>-  </a:t>
            </a:r>
            <a:r>
              <a:rPr sz="1200" b="0">
                <a:solidFill>
                  <a:srgbClr val="3A3A3A"/>
                </a:solidFill>
                <a:latin typeface="Segoe UI"/>
              </a:rPr>
              <a:t>single=True arms one acquisition and blocks until the full slow record fills.</a:t>
            </a:r>
          </a:p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200" b="1">
                <a:solidFill>
                  <a:srgbClr val="4E8A2A"/>
                </a:solidFill>
                <a:latin typeface="Segoe UI"/>
              </a:rPr>
              <a:t>-  </a:t>
            </a:r>
            <a:r>
              <a:rPr sz="1200" b="0">
                <a:solidFill>
                  <a:srgbClr val="3A3A3A"/>
                </a:solidFill>
                <a:latin typeface="Segoe UI"/>
              </a:rPr>
              <a:t>The wide 120 s/div window needs the Tektronix scope (beyond the Keysight's 50 s/div limit).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502920"/>
            <a:ext cx="1060704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200"/>
              </a:spcAft>
            </a:pPr>
            <a:r>
              <a:rPr sz="3000" b="1">
                <a:solidFill>
                  <a:srgbClr val="1A1A1A"/>
                </a:solidFill>
                <a:latin typeface="Segoe UI Semibold"/>
              </a:rPr>
              <a:t>Results - captured off the generator -&gt; scope pipeline</a:t>
            </a:r>
          </a:p>
        </p:txBody>
      </p:sp>
      <p:sp>
        <p:nvSpPr>
          <p:cNvPr id="4" name="Rectangle 3"/>
          <p:cNvSpPr/>
          <p:nvPr/>
        </p:nvSpPr>
        <p:spPr>
          <a:xfrm>
            <a:off x="777240" y="1371600"/>
            <a:ext cx="2194560" cy="36576"/>
          </a:xfrm>
          <a:prstGeom prst="rect">
            <a:avLst/>
          </a:prstGeom>
          <a:solidFill>
            <a:srgbClr val="7DC2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oscope1_ch1_lim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240" y="2011680"/>
            <a:ext cx="5212080" cy="2692908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777240" y="4797765"/>
            <a:ext cx="52120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8000"/>
              </a:lnSpc>
              <a:spcAft>
                <a:spcPts val="0"/>
              </a:spcAft>
            </a:pPr>
            <a:r>
              <a:rPr sz="1200" b="0">
                <a:solidFill>
                  <a:srgbClr val="3A3A3A"/>
                </a:solidFill>
                <a:latin typeface="Consolas"/>
              </a:rPr>
              <a:t>986 pts   Vpp 10.15 V   RMS 6.14 V</a:t>
            </a:r>
          </a:p>
        </p:txBody>
      </p:sp>
      <p:pic>
        <p:nvPicPr>
          <p:cNvPr id="7" name="Picture 6" descr="oscope2_ch1_lim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09359" y="2011680"/>
            <a:ext cx="5212080" cy="2692908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6309359" y="4797765"/>
            <a:ext cx="52120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8000"/>
              </a:lnSpc>
              <a:spcAft>
                <a:spcPts val="0"/>
              </a:spcAft>
            </a:pPr>
            <a:r>
              <a:rPr sz="1200" b="0">
                <a:solidFill>
                  <a:srgbClr val="3A3A3A"/>
                </a:solidFill>
                <a:latin typeface="Consolas"/>
              </a:rPr>
              <a:t>10,000 pts   Vpp 10.30 V   +/-0.5 ms pulse</a:t>
            </a:r>
          </a:p>
        </p:txBody>
      </p:sp>
      <p:sp>
        <p:nvSpPr>
          <p:cNvPr id="9" name="Rectangle 8"/>
          <p:cNvSpPr/>
          <p:nvPr/>
        </p:nvSpPr>
        <p:spPr>
          <a:xfrm>
            <a:off x="777240" y="5623560"/>
            <a:ext cx="10607040" cy="18288"/>
          </a:xfrm>
          <a:prstGeom prst="rect">
            <a:avLst/>
          </a:prstGeom>
          <a:solidFill>
            <a:srgbClr val="DCDC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77240" y="585216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800" b="1">
                <a:solidFill>
                  <a:srgbClr val="4E8A2A"/>
                </a:solidFill>
                <a:latin typeface="Segoe UI Semibold"/>
              </a:rPr>
              <a:t>BENCH RESULT: PASS</a:t>
            </a:r>
            <a:r>
              <a:rPr sz="1300" b="0">
                <a:solidFill>
                  <a:srgbClr val="8A8A8A"/>
                </a:solidFill>
                <a:latin typeface="Segoe UI"/>
              </a:rPr>
              <a:t>     detected, configured (13/13 &amp; 15/15), captured, and saved - both vendors, one API.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