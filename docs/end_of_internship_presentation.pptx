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348" r:id="rId5"/>
    <p:sldId id="2350" r:id="rId6"/>
    <p:sldId id="2351" r:id="rId7"/>
    <p:sldId id="2352" r:id="rId8"/>
    <p:sldId id="2353" r:id="rId9"/>
    <p:sldId id="2354" r:id="rId10"/>
    <p:sldId id="2355" r:id="rId11"/>
    <p:sldId id="2356" r:id="rId12"/>
    <p:sldId id="2357" r:id="rId13"/>
    <p:sldId id="2368" r:id="rId14"/>
    <p:sldId id="2358" r:id="rId15"/>
    <p:sldId id="2359" r:id="rId16"/>
    <p:sldId id="2360" r:id="rId17"/>
    <p:sldId id="2361" r:id="rId18"/>
    <p:sldId id="2362" r:id="rId19"/>
    <p:sldId id="2363" r:id="rId20"/>
    <p:sldId id="2364" r:id="rId21"/>
    <p:sldId id="2365" r:id="rId22"/>
    <p:sldId id="2366" r:id="rId23"/>
    <p:sldId id="2367" r:id="rId24"/>
    <p:sldId id="29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063C2A-EF9D-4462-6305-4D69EC025F14}" name="Rohit Khedkar" initials="RK" userId="S::rohitk2@kpit.com::8d27a1e9-27af-4d84-b7eb-ff379611828b" providerId="AD"/>
  <p188:author id="{66DD60D1-EA4A-43EB-4FF4-B9C6DBEDC4B2}" name="Ashish Lodhi" initials="AL" userId="S::ashishl3@kpit.com::3d2c1ce4-acb9-47e6-ab22-53848e5170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0794D-9E4F-4F01-AF78-06C740769886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53E4C-C0CF-43B7-AEC6-D43BD9C83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91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9CE82D-71C1-40BB-9F9F-BFC8B0CAA1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Work Sans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68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C6AB9-8AB9-4FE9-8C42-F0F32AFF10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1BD3412-DEF9-44A0-9B0F-B078B92B27FC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32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24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44682"/>
            <a:ext cx="11117083" cy="553998"/>
          </a:xfrm>
        </p:spPr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85F48B4-034F-44E8-ACAE-2459DB9D4179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0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1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6C3858A-C108-4466-A331-16AF362AE1DA}" type="datetime1">
              <a:rPr lang="en-US" smtClean="0"/>
              <a:t>8/12/2026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279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1" y="1041188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4EAAC-FB47-49ED-97B6-A5D15BB5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D6BA8E-A42E-4F6C-8D6D-63D7E180E9D6}" type="datetime1">
              <a:rPr lang="en-US" smtClean="0"/>
              <a:t>8/12/2026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5F111-8597-4705-A658-A748EE2E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36575" y="1641353"/>
            <a:ext cx="11117263" cy="4313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36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6BACF-7090-44BF-97BE-663BB3AB658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CC3E283-2638-4D30-BEFB-EA82F4D71BE5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7A4BB-C49F-46C1-BC09-CB54BF7D332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7CD851-88CA-4B66-B127-8E6BFAD2CE2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67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55088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3" y="157958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B7C1B9-2095-4997-AB3E-0290BD55F2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2" y="769976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93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6286500" y="55088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499" y="351741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6582054" y="157958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228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266924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7" y="563577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3" y="369794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1248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6286500" y="2669242"/>
            <a:ext cx="5368042" cy="2931459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6499" y="5635774"/>
            <a:ext cx="5368042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6582054" y="3697942"/>
            <a:ext cx="4577005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BB6D16-F747-419C-9060-5243FEE6BA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2055" y="3035642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63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Open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A59897F-F414-49C6-A032-D9B2F8A7FBC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20" name="Table Placeholder 19">
            <a:extLst>
              <a:ext uri="{FF2B5EF4-FFF2-40B4-BE49-F238E27FC236}">
                <a16:creationId xmlns:a16="http://schemas.microsoft.com/office/drawing/2014/main" id="{DE47ABF5-E890-49AD-AC79-CB2EF6AAF111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537458" y="2874982"/>
            <a:ext cx="5976937" cy="2729847"/>
          </a:xfrm>
          <a:solidFill>
            <a:schemeClr val="tx1">
              <a:alpha val="86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5680970"/>
            <a:ext cx="4564758" cy="521710"/>
          </a:xfrm>
          <a:solidFill>
            <a:schemeClr val="tx2">
              <a:alpha val="86000"/>
            </a:schemeClr>
          </a:solidFill>
        </p:spPr>
        <p:txBody>
          <a:bodyPr lIns="288000" rIns="0" anchor="ctr" anchorCtr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833014" y="3903682"/>
            <a:ext cx="5452036" cy="1077218"/>
          </a:xfrm>
        </p:spPr>
        <p:txBody>
          <a:bodyPr lIns="0" rIns="0"/>
          <a:lstStyle>
            <a:lvl1pPr>
              <a:defRPr sz="32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E5CC6E-16C7-4467-A9C0-AC40766B861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3014" y="3182895"/>
            <a:ext cx="1668424" cy="492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40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C14F98-EB08-4070-A49C-A8A25D76B6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38D46C-1FA0-4C20-A3A5-A71F44DAB3E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8"/>
            <a:ext cx="11117083" cy="707886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9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9" y="4305453"/>
            <a:ext cx="4356100" cy="309562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865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537458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5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458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8" y="2404368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/>
        </p:nvGrpSpPr>
        <p:grpSpPr>
          <a:xfrm>
            <a:off x="537458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E003E77-5EC9-4043-82E6-DA753DA68411}"/>
              </a:ext>
            </a:extLst>
          </p:cNvPr>
          <p:cNvGrpSpPr/>
          <p:nvPr/>
        </p:nvGrpSpPr>
        <p:grpSpPr>
          <a:xfrm>
            <a:off x="537459" y="668337"/>
            <a:ext cx="1833583" cy="527240"/>
            <a:chOff x="522288" y="496888"/>
            <a:chExt cx="866775" cy="249238"/>
          </a:xfrm>
          <a:solidFill>
            <a:schemeClr val="accent2"/>
          </a:solidFill>
        </p:grpSpPr>
        <p:sp>
          <p:nvSpPr>
            <p:cNvPr id="17" name="Rectangle 5">
              <a:extLst>
                <a:ext uri="{FF2B5EF4-FFF2-40B4-BE49-F238E27FC236}">
                  <a16:creationId xmlns:a16="http://schemas.microsoft.com/office/drawing/2014/main" id="{D171461C-7E11-4727-BC70-1A3E99B7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DCB1985-1E91-4176-A736-EDBF686BA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EBA7B760-C9CC-4119-BE9E-1F211E9518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9D52E03-D7AD-4990-8226-88567044F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D48C1F2-89B1-4202-8201-04D58C38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83419930-EB06-420C-9C85-6453A218E9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959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Open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7CF25C-82C5-4E39-9DBF-813F29A7D8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5191984" y="0"/>
            <a:ext cx="7000015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9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/>
        </p:nvSpPr>
        <p:spPr>
          <a:xfrm>
            <a:off x="4909930" y="2223653"/>
            <a:ext cx="2514600" cy="1592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5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81018-9257-4330-ACBD-1BA79AA27977}"/>
              </a:ext>
            </a:extLst>
          </p:cNvPr>
          <p:cNvSpPr/>
          <p:nvPr/>
        </p:nvSpPr>
        <p:spPr>
          <a:xfrm>
            <a:off x="3793657" y="600"/>
            <a:ext cx="2514600" cy="993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78D1809-26DB-4EAB-B9FE-A9F69EA3676B}"/>
              </a:ext>
            </a:extLst>
          </p:cNvPr>
          <p:cNvGrpSpPr/>
          <p:nvPr/>
        </p:nvGrpSpPr>
        <p:grpSpPr>
          <a:xfrm>
            <a:off x="493776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4E08BE1-618C-49D8-B7EF-C3C543F809DA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A3BF6B8-D820-4EF1-9D81-6550D585FB39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800">
                <a:solidFill>
                  <a:prstClr val="white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45D3C-8236-4AEA-9D24-B742D74089AF}"/>
              </a:ext>
            </a:extLst>
          </p:cNvPr>
          <p:cNvGrpSpPr/>
          <p:nvPr/>
        </p:nvGrpSpPr>
        <p:grpSpPr>
          <a:xfrm>
            <a:off x="493777" y="668337"/>
            <a:ext cx="1833583" cy="527240"/>
            <a:chOff x="522288" y="496888"/>
            <a:chExt cx="866775" cy="249238"/>
          </a:xfrm>
          <a:solidFill>
            <a:schemeClr val="tx1"/>
          </a:soli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79A4EA13-CF31-48DE-96E1-28BADD2F2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" y="500063"/>
              <a:ext cx="38100" cy="2444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D5A1E693-B34D-4A8B-9209-B9B03E4A1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563" y="500063"/>
              <a:ext cx="106363" cy="244475"/>
            </a:xfrm>
            <a:custGeom>
              <a:avLst/>
              <a:gdLst>
                <a:gd name="T0" fmla="*/ 0 w 67"/>
                <a:gd name="T1" fmla="*/ 0 h 154"/>
                <a:gd name="T2" fmla="*/ 0 w 67"/>
                <a:gd name="T3" fmla="*/ 22 h 154"/>
                <a:gd name="T4" fmla="*/ 44 w 67"/>
                <a:gd name="T5" fmla="*/ 22 h 154"/>
                <a:gd name="T6" fmla="*/ 44 w 67"/>
                <a:gd name="T7" fmla="*/ 154 h 154"/>
                <a:gd name="T8" fmla="*/ 67 w 67"/>
                <a:gd name="T9" fmla="*/ 154 h 154"/>
                <a:gd name="T10" fmla="*/ 67 w 67"/>
                <a:gd name="T11" fmla="*/ 22 h 154"/>
                <a:gd name="T12" fmla="*/ 67 w 67"/>
                <a:gd name="T13" fmla="*/ 0 h 154"/>
                <a:gd name="T14" fmla="*/ 0 w 67"/>
                <a:gd name="T1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154">
                  <a:moveTo>
                    <a:pt x="0" y="0"/>
                  </a:moveTo>
                  <a:lnTo>
                    <a:pt x="0" y="22"/>
                  </a:lnTo>
                  <a:lnTo>
                    <a:pt x="44" y="22"/>
                  </a:lnTo>
                  <a:lnTo>
                    <a:pt x="44" y="154"/>
                  </a:lnTo>
                  <a:lnTo>
                    <a:pt x="67" y="154"/>
                  </a:lnTo>
                  <a:lnTo>
                    <a:pt x="67" y="22"/>
                  </a:lnTo>
                  <a:lnTo>
                    <a:pt x="6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6B23526B-DCF2-4446-A8DF-97A4358555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0575" y="500063"/>
              <a:ext cx="176213" cy="244475"/>
            </a:xfrm>
            <a:custGeom>
              <a:avLst/>
              <a:gdLst>
                <a:gd name="T0" fmla="*/ 411 w 471"/>
                <a:gd name="T1" fmla="*/ 58 h 648"/>
                <a:gd name="T2" fmla="*/ 249 w 471"/>
                <a:gd name="T3" fmla="*/ 0 h 648"/>
                <a:gd name="T4" fmla="*/ 0 w 471"/>
                <a:gd name="T5" fmla="*/ 0 h 648"/>
                <a:gd name="T6" fmla="*/ 0 w 471"/>
                <a:gd name="T7" fmla="*/ 648 h 648"/>
                <a:gd name="T8" fmla="*/ 101 w 471"/>
                <a:gd name="T9" fmla="*/ 648 h 648"/>
                <a:gd name="T10" fmla="*/ 101 w 471"/>
                <a:gd name="T11" fmla="*/ 422 h 648"/>
                <a:gd name="T12" fmla="*/ 242 w 471"/>
                <a:gd name="T13" fmla="*/ 422 h 648"/>
                <a:gd name="T14" fmla="*/ 409 w 471"/>
                <a:gd name="T15" fmla="*/ 365 h 648"/>
                <a:gd name="T16" fmla="*/ 471 w 471"/>
                <a:gd name="T17" fmla="*/ 210 h 648"/>
                <a:gd name="T18" fmla="*/ 411 w 471"/>
                <a:gd name="T19" fmla="*/ 58 h 648"/>
                <a:gd name="T20" fmla="*/ 365 w 471"/>
                <a:gd name="T21" fmla="*/ 210 h 648"/>
                <a:gd name="T22" fmla="*/ 331 w 471"/>
                <a:gd name="T23" fmla="*/ 296 h 648"/>
                <a:gd name="T24" fmla="*/ 233 w 471"/>
                <a:gd name="T25" fmla="*/ 327 h 648"/>
                <a:gd name="T26" fmla="*/ 101 w 471"/>
                <a:gd name="T27" fmla="*/ 327 h 648"/>
                <a:gd name="T28" fmla="*/ 101 w 471"/>
                <a:gd name="T29" fmla="*/ 95 h 648"/>
                <a:gd name="T30" fmla="*/ 239 w 471"/>
                <a:gd name="T31" fmla="*/ 95 h 648"/>
                <a:gd name="T32" fmla="*/ 331 w 471"/>
                <a:gd name="T33" fmla="*/ 126 h 648"/>
                <a:gd name="T34" fmla="*/ 365 w 471"/>
                <a:gd name="T35" fmla="*/ 210 h 6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1" h="648">
                  <a:moveTo>
                    <a:pt x="411" y="58"/>
                  </a:moveTo>
                  <a:cubicBezTo>
                    <a:pt x="370" y="20"/>
                    <a:pt x="316" y="0"/>
                    <a:pt x="24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48"/>
                    <a:pt x="0" y="648"/>
                    <a:pt x="0" y="648"/>
                  </a:cubicBezTo>
                  <a:cubicBezTo>
                    <a:pt x="101" y="648"/>
                    <a:pt x="101" y="648"/>
                    <a:pt x="101" y="648"/>
                  </a:cubicBezTo>
                  <a:cubicBezTo>
                    <a:pt x="101" y="422"/>
                    <a:pt x="101" y="422"/>
                    <a:pt x="101" y="422"/>
                  </a:cubicBezTo>
                  <a:cubicBezTo>
                    <a:pt x="242" y="422"/>
                    <a:pt x="242" y="422"/>
                    <a:pt x="242" y="422"/>
                  </a:cubicBezTo>
                  <a:cubicBezTo>
                    <a:pt x="313" y="422"/>
                    <a:pt x="369" y="403"/>
                    <a:pt x="409" y="365"/>
                  </a:cubicBezTo>
                  <a:cubicBezTo>
                    <a:pt x="450" y="327"/>
                    <a:pt x="471" y="275"/>
                    <a:pt x="471" y="210"/>
                  </a:cubicBezTo>
                  <a:cubicBezTo>
                    <a:pt x="471" y="148"/>
                    <a:pt x="451" y="97"/>
                    <a:pt x="411" y="58"/>
                  </a:cubicBezTo>
                  <a:moveTo>
                    <a:pt x="365" y="210"/>
                  </a:moveTo>
                  <a:cubicBezTo>
                    <a:pt x="365" y="247"/>
                    <a:pt x="354" y="276"/>
                    <a:pt x="331" y="296"/>
                  </a:cubicBezTo>
                  <a:cubicBezTo>
                    <a:pt x="308" y="317"/>
                    <a:pt x="275" y="327"/>
                    <a:pt x="233" y="327"/>
                  </a:cubicBezTo>
                  <a:cubicBezTo>
                    <a:pt x="101" y="327"/>
                    <a:pt x="101" y="327"/>
                    <a:pt x="101" y="327"/>
                  </a:cubicBezTo>
                  <a:cubicBezTo>
                    <a:pt x="101" y="95"/>
                    <a:pt x="101" y="95"/>
                    <a:pt x="101" y="95"/>
                  </a:cubicBezTo>
                  <a:cubicBezTo>
                    <a:pt x="239" y="95"/>
                    <a:pt x="239" y="95"/>
                    <a:pt x="239" y="95"/>
                  </a:cubicBezTo>
                  <a:cubicBezTo>
                    <a:pt x="278" y="95"/>
                    <a:pt x="309" y="106"/>
                    <a:pt x="331" y="126"/>
                  </a:cubicBezTo>
                  <a:cubicBezTo>
                    <a:pt x="354" y="146"/>
                    <a:pt x="365" y="174"/>
                    <a:pt x="365" y="21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55C3E40B-FD7B-49C5-A50A-33AFAB8ED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463" y="500063"/>
              <a:ext cx="182563" cy="244475"/>
            </a:xfrm>
            <a:custGeom>
              <a:avLst/>
              <a:gdLst>
                <a:gd name="T0" fmla="*/ 53 w 115"/>
                <a:gd name="T1" fmla="*/ 75 h 154"/>
                <a:gd name="T2" fmla="*/ 115 w 115"/>
                <a:gd name="T3" fmla="*/ 0 h 154"/>
                <a:gd name="T4" fmla="*/ 86 w 115"/>
                <a:gd name="T5" fmla="*/ 0 h 154"/>
                <a:gd name="T6" fmla="*/ 34 w 115"/>
                <a:gd name="T7" fmla="*/ 64 h 154"/>
                <a:gd name="T8" fmla="*/ 34 w 115"/>
                <a:gd name="T9" fmla="*/ 64 h 154"/>
                <a:gd name="T10" fmla="*/ 33 w 115"/>
                <a:gd name="T11" fmla="*/ 64 h 154"/>
                <a:gd name="T12" fmla="*/ 24 w 115"/>
                <a:gd name="T13" fmla="*/ 64 h 154"/>
                <a:gd name="T14" fmla="*/ 24 w 115"/>
                <a:gd name="T15" fmla="*/ 51 h 154"/>
                <a:gd name="T16" fmla="*/ 24 w 115"/>
                <a:gd name="T17" fmla="*/ 19 h 154"/>
                <a:gd name="T18" fmla="*/ 24 w 115"/>
                <a:gd name="T19" fmla="*/ 0 h 154"/>
                <a:gd name="T20" fmla="*/ 23 w 115"/>
                <a:gd name="T21" fmla="*/ 0 h 154"/>
                <a:gd name="T22" fmla="*/ 0 w 115"/>
                <a:gd name="T23" fmla="*/ 0 h 154"/>
                <a:gd name="T24" fmla="*/ 0 w 115"/>
                <a:gd name="T25" fmla="*/ 19 h 154"/>
                <a:gd name="T26" fmla="*/ 0 w 115"/>
                <a:gd name="T27" fmla="*/ 51 h 154"/>
                <a:gd name="T28" fmla="*/ 0 w 115"/>
                <a:gd name="T29" fmla="*/ 64 h 154"/>
                <a:gd name="T30" fmla="*/ 0 w 115"/>
                <a:gd name="T31" fmla="*/ 86 h 154"/>
                <a:gd name="T32" fmla="*/ 0 w 115"/>
                <a:gd name="T33" fmla="*/ 109 h 154"/>
                <a:gd name="T34" fmla="*/ 24 w 115"/>
                <a:gd name="T35" fmla="*/ 109 h 154"/>
                <a:gd name="T36" fmla="*/ 24 w 115"/>
                <a:gd name="T37" fmla="*/ 86 h 154"/>
                <a:gd name="T38" fmla="*/ 34 w 115"/>
                <a:gd name="T39" fmla="*/ 86 h 154"/>
                <a:gd name="T40" fmla="*/ 44 w 115"/>
                <a:gd name="T41" fmla="*/ 98 h 154"/>
                <a:gd name="T42" fmla="*/ 88 w 115"/>
                <a:gd name="T43" fmla="*/ 154 h 154"/>
                <a:gd name="T44" fmla="*/ 115 w 115"/>
                <a:gd name="T45" fmla="*/ 154 h 154"/>
                <a:gd name="T46" fmla="*/ 53 w 115"/>
                <a:gd name="T47" fmla="*/ 7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5" h="154">
                  <a:moveTo>
                    <a:pt x="53" y="75"/>
                  </a:moveTo>
                  <a:lnTo>
                    <a:pt x="115" y="0"/>
                  </a:lnTo>
                  <a:lnTo>
                    <a:pt x="86" y="0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33" y="64"/>
                  </a:lnTo>
                  <a:lnTo>
                    <a:pt x="24" y="64"/>
                  </a:lnTo>
                  <a:lnTo>
                    <a:pt x="24" y="51"/>
                  </a:lnTo>
                  <a:lnTo>
                    <a:pt x="24" y="19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51"/>
                  </a:lnTo>
                  <a:lnTo>
                    <a:pt x="0" y="64"/>
                  </a:lnTo>
                  <a:lnTo>
                    <a:pt x="0" y="86"/>
                  </a:lnTo>
                  <a:lnTo>
                    <a:pt x="0" y="109"/>
                  </a:lnTo>
                  <a:lnTo>
                    <a:pt x="24" y="109"/>
                  </a:lnTo>
                  <a:lnTo>
                    <a:pt x="24" y="86"/>
                  </a:lnTo>
                  <a:lnTo>
                    <a:pt x="34" y="86"/>
                  </a:lnTo>
                  <a:lnTo>
                    <a:pt x="44" y="98"/>
                  </a:lnTo>
                  <a:lnTo>
                    <a:pt x="88" y="154"/>
                  </a:lnTo>
                  <a:lnTo>
                    <a:pt x="115" y="154"/>
                  </a:lnTo>
                  <a:lnTo>
                    <a:pt x="5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0ABD8C8-DA77-4033-9AF1-7EBB5B37E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613" y="496888"/>
              <a:ext cx="44450" cy="42863"/>
            </a:xfrm>
            <a:custGeom>
              <a:avLst/>
              <a:gdLst>
                <a:gd name="T0" fmla="*/ 73 w 119"/>
                <a:gd name="T1" fmla="*/ 4 h 114"/>
                <a:gd name="T2" fmla="*/ 30 w 119"/>
                <a:gd name="T3" fmla="*/ 9 h 114"/>
                <a:gd name="T4" fmla="*/ 4 w 119"/>
                <a:gd name="T5" fmla="*/ 43 h 114"/>
                <a:gd name="T6" fmla="*/ 9 w 119"/>
                <a:gd name="T7" fmla="*/ 85 h 114"/>
                <a:gd name="T8" fmla="*/ 43 w 119"/>
                <a:gd name="T9" fmla="*/ 112 h 114"/>
                <a:gd name="T10" fmla="*/ 57 w 119"/>
                <a:gd name="T11" fmla="*/ 114 h 114"/>
                <a:gd name="T12" fmla="*/ 111 w 119"/>
                <a:gd name="T13" fmla="*/ 73 h 114"/>
                <a:gd name="T14" fmla="*/ 73 w 119"/>
                <a:gd name="T15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9" h="114">
                  <a:moveTo>
                    <a:pt x="73" y="4"/>
                  </a:moveTo>
                  <a:cubicBezTo>
                    <a:pt x="59" y="0"/>
                    <a:pt x="44" y="2"/>
                    <a:pt x="30" y="9"/>
                  </a:cubicBezTo>
                  <a:cubicBezTo>
                    <a:pt x="17" y="17"/>
                    <a:pt x="8" y="29"/>
                    <a:pt x="4" y="43"/>
                  </a:cubicBezTo>
                  <a:cubicBezTo>
                    <a:pt x="0" y="57"/>
                    <a:pt x="1" y="72"/>
                    <a:pt x="9" y="85"/>
                  </a:cubicBezTo>
                  <a:cubicBezTo>
                    <a:pt x="16" y="98"/>
                    <a:pt x="28" y="107"/>
                    <a:pt x="43" y="112"/>
                  </a:cubicBezTo>
                  <a:cubicBezTo>
                    <a:pt x="48" y="113"/>
                    <a:pt x="52" y="114"/>
                    <a:pt x="57" y="114"/>
                  </a:cubicBezTo>
                  <a:cubicBezTo>
                    <a:pt x="81" y="114"/>
                    <a:pt x="104" y="97"/>
                    <a:pt x="111" y="73"/>
                  </a:cubicBezTo>
                  <a:cubicBezTo>
                    <a:pt x="119" y="44"/>
                    <a:pt x="102" y="12"/>
                    <a:pt x="7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87159288-A5ED-4305-8773-CBBE6AB13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8" y="703263"/>
              <a:ext cx="42863" cy="42863"/>
            </a:xfrm>
            <a:custGeom>
              <a:avLst/>
              <a:gdLst>
                <a:gd name="T0" fmla="*/ 74 w 115"/>
                <a:gd name="T1" fmla="*/ 4 h 114"/>
                <a:gd name="T2" fmla="*/ 31 w 115"/>
                <a:gd name="T3" fmla="*/ 9 h 114"/>
                <a:gd name="T4" fmla="*/ 4 w 115"/>
                <a:gd name="T5" fmla="*/ 43 h 114"/>
                <a:gd name="T6" fmla="*/ 9 w 115"/>
                <a:gd name="T7" fmla="*/ 85 h 114"/>
                <a:gd name="T8" fmla="*/ 43 w 115"/>
                <a:gd name="T9" fmla="*/ 112 h 114"/>
                <a:gd name="T10" fmla="*/ 58 w 115"/>
                <a:gd name="T11" fmla="*/ 114 h 114"/>
                <a:gd name="T12" fmla="*/ 111 w 115"/>
                <a:gd name="T13" fmla="*/ 74 h 114"/>
                <a:gd name="T14" fmla="*/ 106 w 115"/>
                <a:gd name="T15" fmla="*/ 31 h 114"/>
                <a:gd name="T16" fmla="*/ 74 w 115"/>
                <a:gd name="T17" fmla="*/ 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14">
                  <a:moveTo>
                    <a:pt x="74" y="4"/>
                  </a:moveTo>
                  <a:cubicBezTo>
                    <a:pt x="59" y="0"/>
                    <a:pt x="44" y="2"/>
                    <a:pt x="31" y="9"/>
                  </a:cubicBezTo>
                  <a:cubicBezTo>
                    <a:pt x="18" y="17"/>
                    <a:pt x="8" y="29"/>
                    <a:pt x="4" y="43"/>
                  </a:cubicBezTo>
                  <a:cubicBezTo>
                    <a:pt x="0" y="57"/>
                    <a:pt x="2" y="72"/>
                    <a:pt x="9" y="85"/>
                  </a:cubicBezTo>
                  <a:cubicBezTo>
                    <a:pt x="17" y="98"/>
                    <a:pt x="29" y="108"/>
                    <a:pt x="43" y="112"/>
                  </a:cubicBezTo>
                  <a:cubicBezTo>
                    <a:pt x="48" y="113"/>
                    <a:pt x="53" y="114"/>
                    <a:pt x="58" y="114"/>
                  </a:cubicBezTo>
                  <a:cubicBezTo>
                    <a:pt x="82" y="114"/>
                    <a:pt x="105" y="98"/>
                    <a:pt x="111" y="74"/>
                  </a:cubicBezTo>
                  <a:cubicBezTo>
                    <a:pt x="115" y="59"/>
                    <a:pt x="114" y="44"/>
                    <a:pt x="106" y="31"/>
                  </a:cubicBezTo>
                  <a:cubicBezTo>
                    <a:pt x="99" y="18"/>
                    <a:pt x="88" y="8"/>
                    <a:pt x="74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1869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31D50D-30CF-4EDE-AAD6-F27CA1FDE9C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D7E3742-E8A0-4CDC-9BD4-F9762186075C}" type="datetime1">
              <a:rPr lang="en-US" smtClean="0"/>
              <a:t>8/12/2026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B98D741-86A0-4952-A3ED-78E843F23C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8A9C1A8-0BFC-4236-A720-3456710C7F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779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B32AF60-FE79-46A0-BC71-D44F0EA48E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089B256-3388-4993-AC50-E891B29B4252}" type="datetime1">
              <a:rPr lang="en-US" smtClean="0"/>
              <a:t>8/12/2026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E755B-56DD-462B-ABE5-CF5CC16BEF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BE4BA5-BC2D-41C2-86C7-5365F2F9A5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8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3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3C7AD3A-599B-4013-9C13-39954DC160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1ADD5D9-8A96-4CC9-B73E-AEDD4253EA37}" type="datetime1">
              <a:rPr lang="en-US" smtClean="0"/>
              <a:t>8/12/2026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8C8EB2-9FA7-41E0-9ED8-5393479C4C2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EF155E-4AF5-46F2-9B1D-1AA8A2781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3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bottom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8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0820E8D-C14D-4C0B-BD6B-8F88D7BAAD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66E72EC-F3AA-4AAA-93F2-3070632A2666}" type="datetime1">
              <a:rPr lang="en-US" smtClean="0"/>
              <a:t>8/12/2026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4A7328-CA38-4B1B-B573-1B0774D3AC9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FC39A8-2928-4641-814D-B19F9B6E95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0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5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97BB7-0400-4F5F-B75B-E08643B2110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2957098-506A-4526-8F96-614F169B4FA8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F71E9-F7CE-4E64-AEEB-C5CAA1C4C9C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6FA90-FF74-470B-B12B-CCFE0A47C26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75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middle with backgrou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5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F18A5-09F4-47C1-A4BD-EC66B9E1685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A49B37-5E9A-40EA-90BF-619B070E56C4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EBA99D-F27E-46D4-86A6-1803583B424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8AA439-BB0B-4BC6-A160-9D3AE0EBCD9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7D3ED-8D67-4329-961D-BAFB628883A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BEEB770-CD45-47D5-A374-AC399FDE9317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96849-6AD9-46A1-9917-550D61FDBEE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9D0C9D-FFF7-4329-BDB4-01B62B2341A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786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center with background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2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+mj-lt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65079B-A7F3-4458-8D93-E8D810E987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1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1892826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spc="0" baseline="0">
                <a:solidFill>
                  <a:srgbClr val="FFFFFF"/>
                </a:solidFill>
                <a:latin typeface="Work Sans Medium" panose="020B0706030804020204" pitchFamily="34" charset="0"/>
                <a:ea typeface="Work Sans Medium" panose="020B0706030804020204" pitchFamily="34" charset="0"/>
                <a:cs typeface="Work Sans Medium" panose="020B07060308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201FB-FE53-4F0B-8FDF-C2DEEA8F96B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2E830D1-376A-4005-BB91-E1BC51C246EF}" type="datetime1">
              <a:rPr lang="en-US" smtClean="0"/>
              <a:t>8/12/2026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20328C-B50E-4E5B-A023-F1DFCF9F6B1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00" y="6323715"/>
            <a:ext cx="555960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CC5429-3FEC-4B5F-A188-C895E743664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290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5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04751" y="2817265"/>
            <a:ext cx="5245824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D586E-F233-48FE-A780-BB4D0BED11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897" y="4383089"/>
            <a:ext cx="5243679" cy="367816"/>
          </a:xfrm>
        </p:spPr>
        <p:txBody>
          <a:bodyPr/>
          <a:lstStyle>
            <a:lvl1pPr marL="0" indent="0">
              <a:buNone/>
              <a:defRPr/>
            </a:lvl1pPr>
            <a:lvl2pPr marL="266689" indent="0">
              <a:buNone/>
              <a:defRPr/>
            </a:lvl2pPr>
            <a:lvl3pPr marL="914363" indent="0">
              <a:buNone/>
              <a:defRPr/>
            </a:lvl3pPr>
            <a:lvl4pPr marL="1371545" indent="0">
              <a:buNone/>
              <a:defRPr/>
            </a:lvl4pPr>
            <a:lvl5pPr marL="1828727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DFC6F-3286-4A3D-A782-EF139340A1F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751" y="464695"/>
            <a:ext cx="1727322" cy="49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469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1" y="426425"/>
            <a:ext cx="5245824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5" y="0"/>
            <a:ext cx="5840776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023732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949243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50000" y="2454275"/>
            <a:ext cx="5238750" cy="2236788"/>
          </a:xfrm>
        </p:spPr>
        <p:txBody>
          <a:bodyPr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689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363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545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727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75740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2991678"/>
            <a:ext cx="12192000" cy="3866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988EB7-C821-4EEA-B8AF-13B106E73F0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7419" y="436120"/>
            <a:ext cx="1727322" cy="49746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896ED2-8998-45EC-B37F-E645AEBA4D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7260" y="341736"/>
            <a:ext cx="8638209" cy="1223460"/>
          </a:xfrm>
        </p:spPr>
        <p:txBody>
          <a:bodyPr>
            <a:no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66689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363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545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kern="1200" spc="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727" indent="0" algn="l" defTabSz="91436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IN" sz="3200" kern="1200" spc="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4506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1" y="505937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61F96C5-3350-41E7-9935-541D8E55CBF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EA5CC56-7B2A-40C9-A59D-4BA5CD6E7410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04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F03B81E-CC90-411E-907D-CE60ACBAE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_half_left">
            <a:extLst>
              <a:ext uri="{FF2B5EF4-FFF2-40B4-BE49-F238E27FC236}">
                <a16:creationId xmlns:a16="http://schemas.microsoft.com/office/drawing/2014/main" id="{5BF4DA2A-5A7C-4029-B48B-32F5FE348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61" y="505937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9D3E6B4F-D21C-426D-B8FD-240BB68CA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89654" y="6327574"/>
            <a:ext cx="464888" cy="238059"/>
          </a:xfrm>
        </p:spPr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B33EF04-15F4-4247-858A-D0710FB043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819400" y="6323715"/>
            <a:ext cx="7193282" cy="245776"/>
          </a:xfrm>
        </p:spPr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4" name="Subtitle_half_left">
            <a:extLst>
              <a:ext uri="{FF2B5EF4-FFF2-40B4-BE49-F238E27FC236}">
                <a16:creationId xmlns:a16="http://schemas.microsoft.com/office/drawing/2014/main" id="{3A41A42D-CD31-48F6-B386-50253686E9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B62C4CC1-23D3-424A-9A46-85D9CC8FCD4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 flipH="1">
            <a:off x="10217150" y="6327578"/>
            <a:ext cx="866140" cy="238051"/>
          </a:xfrm>
        </p:spPr>
        <p:txBody>
          <a:bodyPr/>
          <a:lstStyle/>
          <a:p>
            <a:fld id="{E01ECB1C-2D1A-4FC7-B4AB-F0B69A6E8357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766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91254D4-FD9A-416B-A46F-548B6D07957B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33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b p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397000" y="1485900"/>
            <a:ext cx="6299200" cy="382905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87499" y="1803389"/>
            <a:ext cx="5922963" cy="33353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651354" y="1585913"/>
            <a:ext cx="3038476" cy="183832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7743600" y="1738313"/>
            <a:ext cx="2858400" cy="1595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6"/>
          </p:nvPr>
        </p:nvSpPr>
        <p:spPr>
          <a:xfrm>
            <a:off x="7651354" y="3381377"/>
            <a:ext cx="3038476" cy="183832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7743600" y="3533777"/>
            <a:ext cx="2858400" cy="1595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5B1FEBC-DBE4-46E4-85A5-7821E881193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980D578-04A3-433C-94D9-715EAA11B5A8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32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89A59-B598-4605-94C7-790118509E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5AF8B3-C56A-4881-9F10-508365DDB0F4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914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7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649D5E-F6D0-4AA0-9127-CE8B8D68317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FB12CD-65BF-4CB2-BEF8-CFA84EB72DD6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136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614988" y="1671637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2762727" y="2785586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477726" y="2785586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6792575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10159662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6"/>
          </p:nvPr>
        </p:nvSpPr>
        <p:spPr>
          <a:xfrm>
            <a:off x="1075194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7"/>
          </p:nvPr>
        </p:nvSpPr>
        <p:spPr>
          <a:xfrm>
            <a:off x="4442281" y="4393962"/>
            <a:ext cx="952500" cy="95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6DA9F-7CE5-43B5-8F53-462D33E0516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D94380D-3A88-4ABA-BC5A-F5ECE2A8CA44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9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AFC74-5FD3-4865-8C40-97BD719CA79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C27C40B-04B0-4A84-AE56-79988C487231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051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EF514-C482-4232-A3C4-2A64B27FDA7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85C2874-31CE-4AF1-9E78-C013A8C9056B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682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54AED-ADE0-4FD9-A927-39235D4125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08BB2DB-A751-408C-B355-4F5EABEA2683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467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3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6" y="1679973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6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6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1" y="1679973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6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6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EC102-29F4-44F4-9717-4F55C36451D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D93C2A46-5588-4E6A-9C8C-94D538C85B57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628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EAB10-2A06-46DB-9D61-651C4714BC8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14F1531-E2C2-4B68-BE5C-D11389BED915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479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513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07600"/>
            <a:ext cx="11117083" cy="5847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solidFill>
                  <a:srgbClr val="FFFFFF"/>
                </a:solidFill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8390B-E553-4AFB-9D02-3A91A917F16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A3A47A5-0121-443F-895F-797BACDB400D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79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50"/>
            <a:ext cx="3555570" cy="1569660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AD4B0-74D8-4A99-8D65-643E71AF4BF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05A3158-BE9F-49DA-9FD3-84B29886293F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182BAD-05B8-4986-BB17-A1EEBE504FA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CC83B-39BF-444E-9F0E-05AF20B460A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188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50"/>
            <a:ext cx="3555570" cy="1569660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1"/>
            <a:ext cx="12192000" cy="42513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media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36426-6EC5-4026-9861-2E3B511F9B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DA022D3-C253-448B-989F-257166C3CFBF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1406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half background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6249771" y="507601"/>
            <a:ext cx="5245824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40776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285DA-4081-47B1-9802-35DB6744DC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75252E8-C241-426A-AE35-15C17AE3ABA6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D09ACD-7F31-45B9-830E-CB35153DEB8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399" y="6323715"/>
            <a:ext cx="4807125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D63F7-AFCC-49EC-A106-B67FD146536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301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&amp; Subtitle &amp; half background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6249771" y="507601"/>
            <a:ext cx="5245824" cy="1077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40776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ubtitle_half_right"/>
          <p:cNvSpPr>
            <a:spLocks noGrp="1"/>
          </p:cNvSpPr>
          <p:nvPr>
            <p:ph type="body" sz="quarter" idx="14" hasCustomPrompt="1"/>
          </p:nvPr>
        </p:nvSpPr>
        <p:spPr>
          <a:xfrm>
            <a:off x="6251401" y="925201"/>
            <a:ext cx="5258610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B8A11-8D61-4C4F-97A4-733042DD642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6AFFC17-8528-4E5E-8CC8-9E6B17EFE49D}" type="datetime1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92617-E2A3-4D69-A3DF-8DF4D293841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36400" y="6323715"/>
            <a:ext cx="4854750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BCE30-C810-4694-95AD-55DD5391E41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481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0"/>
            <a:ext cx="10958541" cy="584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1"/>
            <a:ext cx="2790000" cy="4714509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1"/>
            <a:ext cx="2790000" cy="4714509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8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DEF6B-1CDC-48FB-B2FA-212E8F433ED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11DED1E-F2E4-4B74-A62E-14D9ACC9FBE6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964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683D3-6885-4096-8122-8A581B751BB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3E2C7B5E-4E0F-442A-BBFE-AD33FD31580B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880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65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106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344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385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Text Placeholder 6"/>
          <p:cNvSpPr>
            <a:spLocks noGrp="1"/>
          </p:cNvSpPr>
          <p:nvPr>
            <p:ph type="body" sz="quarter" idx="31"/>
          </p:nvPr>
        </p:nvSpPr>
        <p:spPr>
          <a:xfrm>
            <a:off x="6366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6781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Text Placeholder 6"/>
          <p:cNvSpPr>
            <a:spLocks noGrp="1"/>
          </p:cNvSpPr>
          <p:nvPr>
            <p:ph type="body" sz="quarter" idx="33"/>
          </p:nvPr>
        </p:nvSpPr>
        <p:spPr>
          <a:xfrm>
            <a:off x="9291000" y="1359000"/>
            <a:ext cx="2295000" cy="3960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Picture Placeholder 8"/>
          <p:cNvSpPr>
            <a:spLocks noGrp="1"/>
          </p:cNvSpPr>
          <p:nvPr>
            <p:ph type="pic" sz="quarter" idx="34"/>
          </p:nvPr>
        </p:nvSpPr>
        <p:spPr>
          <a:xfrm>
            <a:off x="9706000" y="21150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04560-DEDE-4304-8564-D6CFB192130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fld id="{45178197-E0A7-4708-97D8-61DC8D323C9F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2048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836000" y="1269001"/>
            <a:ext cx="2520000" cy="4469021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299200" y="2124000"/>
            <a:ext cx="1598400" cy="279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29"/>
          </p:nvPr>
        </p:nvSpPr>
        <p:spPr>
          <a:xfrm>
            <a:off x="299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65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31"/>
          </p:nvPr>
        </p:nvSpPr>
        <p:spPr>
          <a:xfrm>
            <a:off x="7626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8"/>
          <p:cNvSpPr>
            <a:spLocks noGrp="1"/>
          </p:cNvSpPr>
          <p:nvPr>
            <p:ph type="pic" sz="quarter" idx="32"/>
          </p:nvPr>
        </p:nvSpPr>
        <p:spPr>
          <a:xfrm>
            <a:off x="9921000" y="2124000"/>
            <a:ext cx="1598400" cy="2790000"/>
          </a:xfrm>
          <a:prstGeom prst="rect">
            <a:avLst/>
          </a:prstGeom>
          <a:solidFill>
            <a:srgbClr val="C3D0ED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6E03B-D1A3-49D7-BDA2-2B1C473B90CE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E67528B9-D079-4CCD-809A-E54284372E98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23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7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7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CA95F-2646-46AB-92A0-FCDE59F0AF6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B09D422-05A4-424F-9D0A-E67FFE2F4AFB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035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CDCFD83-29A0-4266-8E72-C7872FCA40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E554C41-E552-406F-8C7B-913D13B4C262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3547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 noChangeAspect="1"/>
          </p:cNvSpPr>
          <p:nvPr>
            <p:ph type="body" sz="quarter" idx="14"/>
          </p:nvPr>
        </p:nvSpPr>
        <p:spPr>
          <a:xfrm>
            <a:off x="8438400" y="1242000"/>
            <a:ext cx="2721600" cy="4899763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8940799" y="2185037"/>
            <a:ext cx="1721485" cy="3072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894000" y="1000800"/>
            <a:ext cx="2988000" cy="53856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39027" y="2028827"/>
            <a:ext cx="1898648" cy="33527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/>
          <p:cNvSpPr>
            <a:spLocks noGrp="1" noChangeAspect="1"/>
          </p:cNvSpPr>
          <p:nvPr>
            <p:ph type="body" sz="quarter" idx="16"/>
          </p:nvPr>
        </p:nvSpPr>
        <p:spPr>
          <a:xfrm>
            <a:off x="6057900" y="4183925"/>
            <a:ext cx="2114550" cy="2114983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 noChangeAspect="1"/>
          </p:cNvSpPr>
          <p:nvPr>
            <p:ph type="pic" sz="quarter" idx="17"/>
          </p:nvPr>
        </p:nvSpPr>
        <p:spPr>
          <a:xfrm>
            <a:off x="6393077" y="4519616"/>
            <a:ext cx="1444199" cy="1443600"/>
          </a:xfrm>
          <a:prstGeom prst="roundRect">
            <a:avLst>
              <a:gd name="adj" fmla="val 24561"/>
            </a:avLst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4AD55B3-D661-491A-8908-26DA58DF016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8E92E1BD-0968-4BA4-8DED-B0165DD6D45C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bile App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1"/>
            <a:ext cx="60284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8610600" y="442912"/>
            <a:ext cx="3489076" cy="5895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6871" y="1569600"/>
            <a:ext cx="2214000" cy="367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65899" y="69850"/>
            <a:ext cx="3867785" cy="6535738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268400" y="1317600"/>
            <a:ext cx="2462400" cy="4071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Subtitle_half_left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603584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BB3C1-F184-4624-957C-110698996831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561C769-D4EB-4A03-8722-F7723CA906AA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2114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60" y="507601"/>
            <a:ext cx="54685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7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1" y="925201"/>
            <a:ext cx="54872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EAD8AF-2D5F-41F9-A2CD-CC6CECFFB1B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F3C7703-C88B-4A34-B922-3915BC61E5BE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72A04-22D3-430B-9A51-52297E6ACBC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08CF4-5D69-473C-AD15-4EFAD292026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EC21C60-F8F6-4713-9C3A-36A45EB422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8538131-5352-4760-982F-4CF68C1370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0419" y="6236307"/>
            <a:ext cx="109296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9525">
            <a:solidFill>
              <a:schemeClr val="accent5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00659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6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7458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CA4C63E-82B6-45AE-8E1B-5834946546C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26BD473-C0DD-4927-93E7-8FE6513E835B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5605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60" y="507601"/>
            <a:ext cx="54685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1" y="925201"/>
            <a:ext cx="54872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0B690F-AE10-4AC5-B742-38A87F78E85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6D8294-CB5D-48A3-AF81-4EA0BC6DBAE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3C95782-A6B5-4507-A1A0-3F014902179A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A0D8B-DB9A-446B-ABAF-4EB4825BAAA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990A2-3A3F-47BA-AA36-8341BD8C796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72D59F-7C58-4F26-AF3E-6270031DCB52}"/>
              </a:ext>
            </a:extLst>
          </p:cNvPr>
          <p:cNvCxnSpPr>
            <a:cxnSpLocks/>
          </p:cNvCxnSpPr>
          <p:nvPr/>
        </p:nvCxnSpPr>
        <p:spPr>
          <a:xfrm>
            <a:off x="622301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9162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60" y="507601"/>
            <a:ext cx="6028441" cy="107721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6058709" cy="4929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8EDBA-32D1-4CAD-B6F5-A12817AA145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CFA2FE0-BD81-4919-A9E3-335BAB042714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334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1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D71CA83-4C14-4F76-8A2E-4BC45FED97B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673031-0AB9-4C17-995D-EB0C9874A4CF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585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E8933-31AB-4E36-AA2D-4C3A1404976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C52995B-7D74-431A-9CDE-D6AA24246FA0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564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ptop &amp; Mob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335780" y="1958400"/>
            <a:ext cx="2473200" cy="44496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786238" y="2800350"/>
            <a:ext cx="1576462" cy="2781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F0666-F520-4269-B254-69D901F7443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3F20899-D306-4FD3-9E9C-8DBB3548711E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45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ows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57900" y="1384300"/>
            <a:ext cx="5765800" cy="46863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57939" y="1943100"/>
            <a:ext cx="5186361" cy="3854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925201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85A0D-1399-471C-86C5-8E18B0508C2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453CA18-FD03-4321-A477-050B6937627F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103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Opening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93776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3776" y="4577566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493776" y="2397865"/>
            <a:ext cx="6996402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3216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0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0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304271" y="709983"/>
            <a:ext cx="11055615" cy="550333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5"/>
          </p:nvPr>
        </p:nvSpPr>
        <p:spPr>
          <a:xfrm>
            <a:off x="277789" y="1547784"/>
            <a:ext cx="11151901" cy="4683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Rectangle 21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>
          <a:xfrm>
            <a:off x="736599" y="6515100"/>
            <a:ext cx="666752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0E42CFB5-33FE-427D-9E6E-6D4B67A9B272}" type="datetime1">
              <a:rPr lang="en-US" smtClean="0"/>
              <a:t>8/12/2026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0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 userDrawn="1"/>
        </p:nvCxnSpPr>
        <p:spPr>
          <a:xfrm rot="5400000">
            <a:off x="519642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1293283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 rot="5400000">
            <a:off x="2865967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ooter Placeholder 4"/>
          <p:cNvSpPr txBox="1">
            <a:spLocks/>
          </p:cNvSpPr>
          <p:nvPr userDrawn="1"/>
        </p:nvSpPr>
        <p:spPr>
          <a:xfrm>
            <a:off x="1513417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pic>
        <p:nvPicPr>
          <p:cNvPr id="31" name="Picture 30" descr="KPIT logo-(RGB)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103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&amp; half background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536401" y="6323715"/>
            <a:ext cx="4183061" cy="245776"/>
          </a:xfrm>
        </p:spPr>
        <p:txBody>
          <a:bodyPr/>
          <a:lstStyle>
            <a:lvl1pPr algn="l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185035" y="2404368"/>
            <a:ext cx="5729991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880151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4800" y="277370"/>
            <a:ext cx="11049000" cy="609600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2750">
                <a:solidFill>
                  <a:schemeClr val="tx2"/>
                </a:solidFill>
              </a:defRPr>
            </a:lvl1pPr>
            <a:lvl2pPr marL="544237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1088473" indent="0">
              <a:buNone/>
              <a:defRPr sz="1917">
                <a:solidFill>
                  <a:schemeClr val="tx1">
                    <a:tint val="75000"/>
                  </a:schemeClr>
                </a:solidFill>
              </a:defRPr>
            </a:lvl3pPr>
            <a:lvl4pPr marL="1632711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4pPr>
            <a:lvl5pPr marL="217694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5pPr>
            <a:lvl6pPr marL="272118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6pPr>
            <a:lvl7pPr marL="326542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7pPr>
            <a:lvl8pPr marL="3809657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8pPr>
            <a:lvl9pPr marL="4353894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the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1" y="1008186"/>
            <a:ext cx="11364384" cy="5218943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714"/>
              </a:spcBef>
              <a:buNone/>
              <a:defRPr sz="2000"/>
            </a:lvl1pPr>
            <a:lvl2pPr marL="0" indent="0">
              <a:spcBef>
                <a:spcPts val="714"/>
              </a:spcBef>
              <a:buNone/>
              <a:defRPr sz="2167"/>
            </a:lvl2pPr>
            <a:lvl3pPr marL="0" indent="0">
              <a:spcBef>
                <a:spcPts val="714"/>
              </a:spcBef>
              <a:buNone/>
              <a:defRPr sz="2167"/>
            </a:lvl3pPr>
            <a:lvl4pPr marL="0" indent="0">
              <a:spcBef>
                <a:spcPts val="714"/>
              </a:spcBef>
              <a:buNone/>
              <a:defRPr sz="2167"/>
            </a:lvl4pPr>
            <a:lvl5pPr marL="0" indent="0">
              <a:spcBef>
                <a:spcPts val="714"/>
              </a:spcBef>
              <a:buNone/>
              <a:defRPr sz="2167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Rectangle 20"/>
          <p:cNvSpPr/>
          <p:nvPr userDrawn="1"/>
        </p:nvSpPr>
        <p:spPr>
          <a:xfrm>
            <a:off x="11658600" y="304800"/>
            <a:ext cx="533400" cy="381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317519" y="1005389"/>
            <a:ext cx="9273367" cy="762000"/>
          </a:xfrm>
        </p:spPr>
        <p:txBody>
          <a:bodyPr/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515100"/>
            <a:ext cx="609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58A03178-31A8-4DBC-A0BE-B5D36B5E795B}" type="datetime1">
              <a:rPr lang="en-US" smtClean="0"/>
              <a:t>8/12/2026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15100"/>
            <a:ext cx="78486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04800" y="6515100"/>
            <a:ext cx="304800" cy="228600"/>
          </a:xfrm>
        </p:spPr>
        <p:txBody>
          <a:bodyPr/>
          <a:lstStyle>
            <a:lvl1pPr>
              <a:defRPr sz="833">
                <a:solidFill>
                  <a:schemeClr val="bg1"/>
                </a:solidFill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 userDrawn="1"/>
        </p:nvCxnSpPr>
        <p:spPr>
          <a:xfrm rot="5400000">
            <a:off x="519642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 userDrawn="1"/>
        </p:nvCxnSpPr>
        <p:spPr>
          <a:xfrm rot="5400000">
            <a:off x="1293283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 rot="5400000">
            <a:off x="2865967" y="6628342"/>
            <a:ext cx="228600" cy="21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oter Placeholder 4"/>
          <p:cNvSpPr txBox="1">
            <a:spLocks/>
          </p:cNvSpPr>
          <p:nvPr userDrawn="1"/>
        </p:nvSpPr>
        <p:spPr>
          <a:xfrm>
            <a:off x="1513417" y="6515100"/>
            <a:ext cx="1381125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sz="800"/>
            </a:lvl1pPr>
          </a:lstStyle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33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0"/>
              </a:rPr>
              <a:t>© KPIT Technologies Limited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0" y="6339192"/>
            <a:ext cx="12192000" cy="616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52" tIns="54426" rIns="108852" bIns="54426" rtlCol="0" anchor="ctr"/>
          <a:lstStyle/>
          <a:p>
            <a:pPr algn="ctr"/>
            <a:endParaRPr lang="en-US" sz="1500"/>
          </a:p>
        </p:txBody>
      </p:sp>
      <p:pic>
        <p:nvPicPr>
          <p:cNvPr id="30" name="Picture 29" descr="KPIT logo-(RGB)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8152" y="6369998"/>
            <a:ext cx="1065490" cy="4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5588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2" y="2390232"/>
            <a:ext cx="5380741" cy="1415772"/>
          </a:xfrm>
        </p:spPr>
        <p:txBody>
          <a:bodyPr/>
          <a:lstStyle>
            <a:lvl1pPr>
              <a:defRPr sz="43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F6C44-7D21-4EA5-8C0E-FDED3B0360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E8F19B0-E96D-4049-A19C-F3DAA268C007}" type="datetime1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86F3A-4614-43C1-8DAE-9518F2DC79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6399" y="6323715"/>
            <a:ext cx="4769025" cy="245776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algn="l"/>
            <a:r>
              <a:rPr lang="en-US"/>
              <a:t>Restricted and Confidential © KPIT Technologies Limited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0B32D-AD1C-438E-BC41-93308B2179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108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F20C89-3AD8-421C-943B-B1D687BB5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68C23B-D963-4861-94BA-CE56F2350497}"/>
              </a:ext>
            </a:extLst>
          </p:cNvPr>
          <p:cNvSpPr txBox="1"/>
          <p:nvPr userDrawn="1"/>
        </p:nvSpPr>
        <p:spPr>
          <a:xfrm>
            <a:off x="4302919" y="3167390"/>
            <a:ext cx="3586162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71759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Open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21EBD52-9DDE-4C3D-BF91-2DD57BB3A2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37478"/>
            <a:ext cx="1705898" cy="373170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buNone/>
              <a:defRPr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2156780-F5F3-4753-93A5-D6CFAECEA98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458" y="6323714"/>
            <a:ext cx="5558542" cy="245776"/>
          </a:xfr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Restricted and Confidential © Work Sans 10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5774761-0146-4E08-A9F3-F691FF15CC9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D766E-B641-420F-ADC0-C99054ADED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163" y="4519220"/>
            <a:ext cx="5097324" cy="39575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Presenter Name</a:t>
            </a:r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07BD00-5D13-4A3C-90DA-C226C07456C8}"/>
              </a:ext>
            </a:extLst>
          </p:cNvPr>
          <p:cNvSpPr/>
          <p:nvPr userDrawn="1"/>
        </p:nvSpPr>
        <p:spPr>
          <a:xfrm>
            <a:off x="5635487" y="1938130"/>
            <a:ext cx="921028" cy="944218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6996402" cy="1720372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B25C1C-6629-4BA4-9851-F12F6AFDD6B6}"/>
              </a:ext>
            </a:extLst>
          </p:cNvPr>
          <p:cNvGrpSpPr/>
          <p:nvPr userDrawn="1"/>
        </p:nvGrpSpPr>
        <p:grpSpPr>
          <a:xfrm>
            <a:off x="579481" y="4255715"/>
            <a:ext cx="612430" cy="125486"/>
            <a:chOff x="575859" y="4778289"/>
            <a:chExt cx="887181" cy="181782"/>
          </a:xfrm>
          <a:solidFill>
            <a:schemeClr val="accent4"/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9D0966-B22F-47C2-BA2B-ECBA03B6232D}"/>
                </a:ext>
              </a:extLst>
            </p:cNvPr>
            <p:cNvSpPr/>
            <p:nvPr/>
          </p:nvSpPr>
          <p:spPr>
            <a:xfrm>
              <a:off x="575859" y="4778289"/>
              <a:ext cx="181782" cy="1817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14F64AA-4A70-49BD-9FA1-7F42629FCA3C}"/>
                </a:ext>
              </a:extLst>
            </p:cNvPr>
            <p:cNvSpPr/>
            <p:nvPr/>
          </p:nvSpPr>
          <p:spPr>
            <a:xfrm>
              <a:off x="845820" y="4788492"/>
              <a:ext cx="617220" cy="1613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1886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06968"/>
            <a:ext cx="11117083" cy="461665"/>
          </a:xfrm>
        </p:spPr>
        <p:txBody>
          <a:bodyPr/>
          <a:lstStyle>
            <a:lvl1pPr>
              <a:defRPr sz="2400" b="1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8E2A97C-BDF1-462E-B915-1B8A32FE5D5A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6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Work Sans 10 pt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9A967-9DD9-4DD6-A720-46986134B14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D887E00-7FC2-48C9-B09B-E04F3C92281D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385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9C0222A4-5669-4B19-B70C-CFFE504EE335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de-DE"/>
              <a:t>6/13/2022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292678"/>
      </p:ext>
    </p:extLst>
  </p:cSld>
  <p:clrMapOvr>
    <a:masterClrMapping/>
  </p:clrMapOvr>
  <p:hf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&amp;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Work Sans" panose="00000500000000000000" pitchFamily="2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Work Sans 10 pt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863600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6572956" y="1673955"/>
            <a:ext cx="4978400" cy="436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925200"/>
            <a:ext cx="11001375" cy="49295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>
                <a:latin typeface="Work Sans Light" panose="00000400000000000000" pitchFamily="2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DD618-DA0C-4B98-A734-B2100C4DE3F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907078C-F32E-4ECB-B169-B11CE0F45842}" type="datetime1">
              <a:rPr lang="en-US" smtClean="0"/>
              <a:t>8/12/2026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867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E31A-5C04-4352-963E-D72457B4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2F8723-5E4D-4A2D-A4BB-2A601FBEB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B5F246-DA92-4692-AF32-FAC897DC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ADE9B-F88B-44A4-BD7C-D5087999D11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6FAD7AF-B799-481D-AEB5-C2AAFBC51B44}" type="datetime1">
              <a:rPr lang="en-GB" smtClean="0"/>
              <a:t>12/08/2026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77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BA75C-A889-5249-BD59-3EAE5C3E6C6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962E9-66D1-144B-8C70-33EB4D437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083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FF06-EAB8-4583-BF16-8E940DC4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8622C6-979F-4152-8A15-8FAA2898CC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5407BD-0EA2-4F5D-B431-766121F9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Restricted and Confidential © KPIT Technologies Ltd.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8375F-4EAD-44F9-BF41-00612320FB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B24538-FEBA-42C3-8C08-A91CC2FE271F}" type="datetime1">
              <a:rPr lang="en-US" smtClean="0"/>
              <a:t>8/12/2026</a:t>
            </a:fld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583C099-E1EE-4D8F-BD9F-C7BBEDC862F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9185" y="536183"/>
            <a:ext cx="11860891" cy="487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150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05937"/>
            <a:ext cx="11117083" cy="58477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27574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5"/>
                </a:solidFill>
                <a:latin typeface="Work Sans" panose="00000500000000000000" pitchFamily="2" charset="0"/>
              </a:defRPr>
            </a:lvl1pPr>
          </a:lstStyle>
          <a:p>
            <a:fld id="{19A725F3-83D0-4529-A15C-9D644B8C51E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22301" y="6223334"/>
            <a:ext cx="10931525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2819400" y="6323715"/>
            <a:ext cx="7193282" cy="245776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r>
              <a:rPr lang="en-US"/>
              <a:t>Restricted and Confidential © KPIT Technologies Limited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1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10217150" y="6327578"/>
            <a:ext cx="866140" cy="2380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Work Sans" panose="00000500000000000000" pitchFamily="2" charset="0"/>
              </a:defRPr>
            </a:lvl1pPr>
          </a:lstStyle>
          <a:p>
            <a:fld id="{D61ED1EF-E36C-49ED-B996-287918BBC9DC}" type="datetime1">
              <a:rPr lang="en-US" smtClean="0"/>
              <a:t>8/12/2026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64D412-F064-400C-8012-40BEB9578E7A}"/>
              </a:ext>
            </a:extLst>
          </p:cNvPr>
          <p:cNvPicPr>
            <a:picLocks noChangeAspect="1"/>
          </p:cNvPicPr>
          <p:nvPr/>
        </p:nvPicPr>
        <p:blipFill>
          <a:blip r:embed="rId7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590" y="6346190"/>
            <a:ext cx="761937" cy="21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4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9" r:id="rId67"/>
    <p:sldLayoutId id="2147483731" r:id="rId68"/>
    <p:sldLayoutId id="2147483733" r:id="rId69"/>
    <p:sldLayoutId id="2147483734" r:id="rId70"/>
    <p:sldLayoutId id="2147483735" r:id="rId71"/>
    <p:sldLayoutId id="2147483736" r:id="rId72"/>
    <p:sldLayoutId id="2147483737" r:id="rId73"/>
    <p:sldLayoutId id="2147483738" r:id="rId74"/>
  </p:sldLayoutIdLst>
  <p:hf hdr="0"/>
  <p:txStyles>
    <p:titleStyle>
      <a:lvl1pPr algn="l" defTabSz="914363" rtl="0" eaLnBrk="1" latinLnBrk="0" hangingPunct="1">
        <a:lnSpc>
          <a:spcPct val="100000"/>
        </a:lnSpc>
        <a:spcBef>
          <a:spcPct val="0"/>
        </a:spcBef>
        <a:buNone/>
        <a:defRPr sz="3200" kern="1200" spc="-2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689" indent="-266689" algn="l" defTabSz="914363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32" indent="-184143" algn="l" defTabSz="914363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54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36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18" indent="-228591" algn="l" defTabSz="914363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Work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8B6CD3-5EE0-AE74-C49E-4275A69B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8" y="2404367"/>
            <a:ext cx="7667203" cy="1323439"/>
          </a:xfrm>
        </p:spPr>
        <p:txBody>
          <a:bodyPr/>
          <a:lstStyle/>
          <a:p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itchFamily="2" charset="77"/>
                <a:ea typeface="+mn-ea"/>
                <a:cs typeface="+mn-cs"/>
              </a:rPr>
              <a:t>End-of-Internship Project Presentation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42A63-FAA9-9919-B0D9-F7AFAAAEB0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207"/>
          <a:stretch/>
        </p:blipFill>
        <p:spPr>
          <a:xfrm>
            <a:off x="10440039" y="149903"/>
            <a:ext cx="1214503" cy="1139252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6ED7823-53F5-4A8C-9BEA-F7089263CAB9}"/>
              </a:ext>
            </a:extLst>
          </p:cNvPr>
          <p:cNvSpPr>
            <a:spLocks noGrp="1"/>
          </p:cNvSpPr>
          <p:nvPr/>
        </p:nvSpPr>
        <p:spPr>
          <a:xfrm>
            <a:off x="537458" y="1848044"/>
            <a:ext cx="1587276" cy="373811"/>
          </a:xfrm>
          <a:prstGeom prst="rect">
            <a:avLst/>
          </a:prstGeom>
          <a:solidFill>
            <a:schemeClr val="accent1"/>
          </a:solidFill>
        </p:spPr>
        <p:txBody>
          <a:bodyPr vert="horz" wrap="none" lIns="36000" tIns="0" rIns="36000" bIns="360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None/>
              <a:defRPr sz="1600" kern="1200">
                <a:solidFill>
                  <a:schemeClr val="tx1"/>
                </a:solidFill>
                <a:latin typeface="+mj-lt"/>
                <a:ea typeface="Work Sans" panose="00000500000000000000" pitchFamily="2" charset="0"/>
                <a:cs typeface="Work Sans" panose="00000500000000000000" pitchFamily="2" charset="0"/>
              </a:defRPr>
            </a:lvl1pPr>
            <a:lvl2pPr marL="450850" indent="-18415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rgbClr val="161718"/>
              </a:buClr>
              <a:buSzPct val="100000"/>
              <a:buFont typeface="Work Sans" panose="020B0604020202020204" pitchFamily="34" charset="0"/>
              <a:buNone/>
              <a:tabLst/>
              <a:defRPr/>
            </a:pPr>
            <a:r>
              <a:rPr lang="en-US">
                <a:solidFill>
                  <a:srgbClr val="161718"/>
                </a:solidFill>
                <a:latin typeface="Work Sans Medium"/>
              </a:rPr>
              <a:t>August 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FD462AC-940C-44DC-886F-223325DC0495}"/>
              </a:ext>
            </a:extLst>
          </p:cNvPr>
          <p:cNvSpPr>
            <a:spLocks noGrp="1"/>
          </p:cNvSpPr>
          <p:nvPr/>
        </p:nvSpPr>
        <p:spPr>
          <a:xfrm>
            <a:off x="537458" y="4703543"/>
            <a:ext cx="5097324" cy="877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850" indent="-18415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Work Sans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ork Sans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300"/>
              </a:spcBef>
              <a:spcAft>
                <a:spcPts val="300"/>
              </a:spcAft>
              <a:buClr>
                <a:srgbClr val="161718"/>
              </a:buClr>
              <a:buSzPct val="100000"/>
              <a:buFont typeface="Work Sans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B0FF45"/>
                </a:solidFill>
                <a:effectLst/>
                <a:uLnTx/>
                <a:uFillTx/>
                <a:latin typeface="Work Sans"/>
                <a:ea typeface="+mn-ea"/>
                <a:cs typeface="+mn-cs"/>
              </a:rPr>
              <a:t>Ritvik Narula  ·  Powertrain Practice — Verification &amp; Validation</a:t>
            </a:r>
          </a:p>
        </p:txBody>
      </p:sp>
    </p:spTree>
    <p:extLst>
      <p:ext uri="{BB962C8B-B14F-4D97-AF65-F5344CB8AC3E}">
        <p14:creationId xmlns:p14="http://schemas.microsoft.com/office/powerpoint/2010/main" val="308319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Hello, I'm Ritvik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161718"/>
                </a:solidFill>
                <a:latin typeface="Work Sans Medium"/>
              </a:rPr>
              <a:t>Ritvik Narula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428003"/>
                </a:solidFill>
                <a:latin typeface="Work Sans Medium"/>
              </a:rPr>
              <a:t>Computer Engineering undergraduate  ·  sophomore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704088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0">
                <a:solidFill>
                  <a:srgbClr val="4D5154"/>
                </a:solidFill>
                <a:latin typeface="Work Sans"/>
              </a:rPr>
              <a:t>Interested in </a:t>
            </a:r>
            <a:r>
              <a:rPr sz="1400" b="1">
                <a:solidFill>
                  <a:srgbClr val="161718"/>
                </a:solidFill>
                <a:latin typeface="Work Sans"/>
              </a:rPr>
              <a:t>computer architecture</a:t>
            </a:r>
            <a:r>
              <a:rPr sz="1400" b="0">
                <a:solidFill>
                  <a:srgbClr val="4D5154"/>
                </a:solidFill>
                <a:latin typeface="Work Sans"/>
              </a:rPr>
              <a:t> and </a:t>
            </a:r>
            <a:r>
              <a:rPr sz="1400" b="1">
                <a:solidFill>
                  <a:srgbClr val="161718"/>
                </a:solidFill>
                <a:latin typeface="Work Sans"/>
              </a:rPr>
              <a:t>low-level programming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428003"/>
                </a:solidFill>
                <a:latin typeface="Work Sans"/>
              </a:rPr>
              <a:t>-  </a:t>
            </a:r>
            <a:r>
              <a:rPr sz="1400" b="0">
                <a:solidFill>
                  <a:srgbClr val="4D5154"/>
                </a:solidFill>
                <a:latin typeface="Work Sans"/>
              </a:rPr>
              <a:t>Summer intern on the Powertrain V&amp;V team, working on the ECM hardware-in-the-loop bench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428003"/>
                </a:solidFill>
                <a:latin typeface="Work Sans"/>
              </a:rPr>
              <a:t>-  </a:t>
            </a:r>
            <a:r>
              <a:rPr sz="1400" b="0">
                <a:solidFill>
                  <a:srgbClr val="4D5154"/>
                </a:solidFill>
                <a:latin typeface="Work Sans"/>
              </a:rPr>
              <a:t>Two projects this summer: an instrument-automation library, then a natural-language test-automation prototype built on top of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065008" y="1481328"/>
            <a:ext cx="3346704" cy="334670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38160" y="1554480"/>
            <a:ext cx="3200400" cy="3200400"/>
          </a:xfrm>
          <a:prstGeom prst="rect">
            <a:avLst/>
          </a:prstGeom>
          <a:solidFill>
            <a:srgbClr val="E6E7E8"/>
          </a:solidFill>
          <a:ln w="15875">
            <a:solidFill>
              <a:srgbClr val="42800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0" y="28803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7F7F7F"/>
                </a:solidFill>
                <a:latin typeface="Work Sans"/>
              </a:rPr>
              <a:t>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004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drop docs/ritvik.jpg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65008" y="4901184"/>
            <a:ext cx="3346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Ritvik Narula</a:t>
            </a:r>
          </a:p>
        </p:txBody>
      </p:sp>
      <p:pic>
        <p:nvPicPr>
          <p:cNvPr id="15" name="Picture 14" descr="The image shows a person wearing a blue dress shirt, standing outdo Environmental conditions in a leafy, natural setting.&#10;&#10;AI-generated content may be incorrect.">
            <a:extLst>
              <a:ext uri="{FF2B5EF4-FFF2-40B4-BE49-F238E27FC236}">
                <a16:creationId xmlns:a16="http://schemas.microsoft.com/office/drawing/2014/main" id="{918173BD-D02F-5577-B474-75C48DBE5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448" y="1569065"/>
            <a:ext cx="3182112" cy="3178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46304" cy="146304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428003"/>
                </a:solidFill>
                <a:latin typeface="Work Sans"/>
              </a:rPr>
              <a:t>PROJECT 1  · 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3200" b="1">
                <a:solidFill>
                  <a:srgbClr val="161718"/>
                </a:solidFill>
                <a:latin typeface="Work Sans Medium"/>
              </a:rPr>
              <a:t>Automating the bench instruments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What, why, 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Build the instrument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3139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One library per instrument - generator and oscilloscope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Cross-vendor: Tektronix and Keysight; same calls, right SCPI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Setup, stimulus, capture and measurement in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960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19600" y="153619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1874519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Manual verification doesn't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2880360"/>
            <a:ext cx="3139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Reading the scope by hand is slow and subjective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Automation gives repeatable, tolerance-checked verdicts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Requirement tags make results traceable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0560" y="137160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0560" y="153619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874519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SCPI over a raw socket, in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2880360"/>
            <a:ext cx="3139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Pure-Python raw-socket SCPI - no VISA, no vendor DLL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Captures parsed into one common Waveform object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Configs are data (JSON); runs in TestStand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Flow - two libraries, one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>
                <a:solidFill>
                  <a:srgbClr val="4D5154"/>
                </a:solidFill>
                <a:latin typeface="Work Sans"/>
              </a:rPr>
              <a:t>Generator drives the ECM; the scope captures the response - all from Python over a raw socket.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5257800" cy="137160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82296" cy="137160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14884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Generator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24328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Shape, frequency, amplitude, duty, pulse, dwell, modulation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Generate known signals for self-test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965960"/>
            <a:ext cx="5257800" cy="137160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320" y="1965960"/>
            <a:ext cx="82296" cy="137160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214884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Oscilloscope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624328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Configure, acquire and parse -&gt; Waveform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Measure RMS, frequency, delay, ...; export CSV / 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77639"/>
            <a:ext cx="2926080" cy="109728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215383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Function 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36007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AFG31102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3977639"/>
            <a:ext cx="2926080" cy="109728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4215383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ECM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636007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device under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977639"/>
            <a:ext cx="2926080" cy="1097280"/>
          </a:xfrm>
          <a:prstGeom prst="rect">
            <a:avLst/>
          </a:prstGeom>
          <a:solidFill>
            <a:srgbClr val="E6E7E8"/>
          </a:solidFill>
          <a:ln w="15875">
            <a:solidFill>
              <a:srgbClr val="753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4215383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Oscilloscope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636007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Work Sans"/>
              </a:rPr>
              <a:t>MSO24 / DSO-X 3034G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29767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041647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stimulus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297679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041647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The main function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Function generator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21208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521208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configure_function_gen(alias, setup, ch)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Apply a named waveform config; verify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set_function_gen_waveform(...)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Shape / frequency / amplitude / offset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set_function_gen_dwell / modulation(...)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Trapezoid dwell; AM / FM / PWM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function_gen_output_on / off(alias, ch)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Drive the signal (explicit)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7160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Oscilloscope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783080"/>
            <a:ext cx="53949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1938528"/>
            <a:ext cx="53949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configure_scope(alias, setup, ch)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Apply a config; verify each setting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capture_scope / arm_scope / read_scope(...)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Acquire now, or arm for a later event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scope_rms / frequency / delay(...)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Measure features off the Waveform</a:t>
            </a:r>
          </a:p>
          <a:p>
            <a:pPr algn="l">
              <a:lnSpc>
                <a:spcPct val="103000"/>
              </a:lnSpc>
              <a:spcAft>
                <a:spcPts val="10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save_scope_csv / png(alias, path)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050" b="0">
                <a:solidFill>
                  <a:srgbClr val="4D5154"/>
                </a:solidFill>
                <a:latin typeface="Work Sans"/>
              </a:rPr>
              <a:t>Export, labeled by the scope alias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One clean sequence,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61718"/>
                </a:solidFill>
                <a:latin typeface="Work Sans Medium"/>
              </a:rPr>
              <a:t>The same six steps run every test - from connecting to the bench to saving the labeled result.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46888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61518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604772" cy="290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 dirty="0">
                <a:solidFill>
                  <a:srgbClr val="7F7F7F"/>
                </a:solidFill>
                <a:latin typeface="Work Sans"/>
              </a:rPr>
              <a:t>find + open</a:t>
            </a:r>
            <a:endParaRPr lang="en-US" sz="900" b="0" dirty="0">
              <a:solidFill>
                <a:srgbClr val="7F7F7F"/>
              </a:solidFill>
              <a:latin typeface="Work Sans"/>
            </a:endParaRP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lang="en-US" sz="900" dirty="0">
                <a:solidFill>
                  <a:srgbClr val="7F7F7F"/>
                </a:solidFill>
                <a:latin typeface="Work Sans"/>
              </a:rPr>
              <a:t>No Dependencies on IP</a:t>
            </a:r>
            <a:endParaRPr sz="900" b="0" dirty="0">
              <a:solidFill>
                <a:srgbClr val="7F7F7F"/>
              </a:solidFill>
              <a:latin typeface="Work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53412" y="310896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446020" y="246888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46020" y="261518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6020" y="292608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6020" y="365760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apply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310896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46888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61518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92608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Arm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65760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ready to catch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8172" y="310896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0780" y="246888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0780" y="261518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780" y="292608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0780" y="365760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drive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310896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46888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261518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92608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65760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read waveform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2932" y="3108960"/>
            <a:ext cx="29260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428003"/>
                </a:solidFill>
                <a:latin typeface="Work Sans"/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35540" y="2468880"/>
            <a:ext cx="1604772" cy="1554480"/>
          </a:xfrm>
          <a:prstGeom prst="rect">
            <a:avLst/>
          </a:prstGeom>
          <a:solidFill>
            <a:srgbClr val="E6E7E8"/>
          </a:solidFill>
          <a:ln w="19050">
            <a:solidFill>
              <a:srgbClr val="B0F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35540" y="2615184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5540" y="2926080"/>
            <a:ext cx="16047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 Medium"/>
              </a:rPr>
              <a:t>Save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5540" y="3657600"/>
            <a:ext cx="16047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Work Sans"/>
              </a:rPr>
              <a:t>png +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891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61718"/>
                </a:solidFill>
                <a:latin typeface="Work Sans"/>
              </a:rPr>
              <a:t>No pauses, no prompts. </a:t>
            </a:r>
            <a:r>
              <a:rPr sz="1400" b="0">
                <a:solidFill>
                  <a:srgbClr val="4D5154"/>
                </a:solidFill>
                <a:latin typeface="Work Sans"/>
              </a:rPr>
              <a:t>Once the sequence starts, it runs to a saved, traceable result on its 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Measure RMS voltage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521208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212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61718"/>
                </a:solidFill>
                <a:latin typeface="Consolas"/>
              </a:rPr>
              <a:t>ts.configure_scope("oscope1","2","1")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61718"/>
                </a:solidFill>
                <a:latin typeface="Consolas"/>
              </a:rPr>
              <a:t>ts.capture_scope("oscope1","1")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61718"/>
                </a:solidFill>
                <a:latin typeface="Consolas"/>
              </a:rPr>
              <a:t>rms = ts.scope_rms("oscope1",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60520"/>
            <a:ext cx="5212080" cy="27432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315968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428003"/>
                </a:solidFill>
                <a:latin typeface="Consolas"/>
              </a:rPr>
              <a:t>rms = 6.14 V</a:t>
            </a:r>
            <a:r>
              <a:rPr sz="1100" b="0">
                <a:solidFill>
                  <a:srgbClr val="7F7F7F"/>
                </a:solidFill>
                <a:latin typeface="Work Sans"/>
              </a:rPr>
              <a:t>   true RMS of a 0-10 V, 1 kHz sine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Generator + oscilloscope (self-test)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737360"/>
            <a:ext cx="521208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920240"/>
            <a:ext cx="52120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61718"/>
                </a:solidFill>
                <a:latin typeface="Consolas"/>
              </a:rPr>
              <a:t>ts.configure_function_gen("funcgen1",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61718"/>
                </a:solidFill>
                <a:latin typeface="Consolas"/>
              </a:rPr>
              <a:t>        "triangle_1mhz", "1")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61718"/>
                </a:solidFill>
                <a:latin typeface="Consolas"/>
              </a:rPr>
              <a:t>ts.function_gen_output_on("funcgen1",1)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>
                <a:solidFill>
                  <a:srgbClr val="161718"/>
                </a:solidFill>
                <a:latin typeface="Consolas"/>
              </a:rPr>
              <a:t>ts.capture_scope("ecm_scope", single=True)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4160520"/>
            <a:ext cx="5212080" cy="27432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4315968"/>
            <a:ext cx="52120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428003"/>
                </a:solidFill>
                <a:latin typeface="Work Sans Medium"/>
              </a:rPr>
              <a:t>End-to-end - no ECM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235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50" b="1">
                <a:solidFill>
                  <a:srgbClr val="161718"/>
                </a:solidFill>
                <a:latin typeface="Work Sans"/>
              </a:rPr>
              <a:t>The AFG loopback is the headline test: </a:t>
            </a:r>
            <a:r>
              <a:rPr sz="1250" b="0">
                <a:solidFill>
                  <a:srgbClr val="4D5154"/>
                </a:solidFill>
                <a:latin typeface="Work Sans"/>
              </a:rPr>
              <a:t>command a known signal, capture it, and prove the pipeline reports it back - no ECM.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44682"/>
            <a:ext cx="11117083" cy="492443"/>
          </a:xfrm>
        </p:spPr>
        <p:txBody>
          <a:bodyPr/>
          <a:lstStyle/>
          <a:p>
            <a:r>
              <a:rPr sz="2600" b="1" dirty="0">
                <a:solidFill>
                  <a:srgbClr val="161718"/>
                </a:solidFill>
                <a:latin typeface="Work Sans Medium"/>
              </a:rPr>
              <a:t>Results </a:t>
            </a:r>
            <a:r>
              <a:rPr lang="en-US" sz="2600" b="1" dirty="0">
                <a:solidFill>
                  <a:srgbClr val="161718"/>
                </a:solidFill>
                <a:latin typeface="Work Sans Medium"/>
              </a:rPr>
              <a:t>–</a:t>
            </a:r>
            <a:r>
              <a:rPr sz="2600" b="1" dirty="0">
                <a:solidFill>
                  <a:srgbClr val="161718"/>
                </a:solidFill>
                <a:latin typeface="Work Sans Medium"/>
              </a:rPr>
              <a:t> </a:t>
            </a:r>
            <a:r>
              <a:rPr lang="en-US" sz="2600" b="1" dirty="0">
                <a:solidFill>
                  <a:srgbClr val="161718"/>
                </a:solidFill>
                <a:latin typeface="Work Sans Medium"/>
              </a:rPr>
              <a:t>ECM Generated Waveform -&gt; </a:t>
            </a:r>
            <a:r>
              <a:rPr lang="en-US" sz="2600" b="1" dirty="0" err="1">
                <a:solidFill>
                  <a:srgbClr val="161718"/>
                </a:solidFill>
                <a:latin typeface="Work Sans Medium"/>
              </a:rPr>
              <a:t>Oscope</a:t>
            </a:r>
            <a:r>
              <a:rPr lang="en-US" sz="2600" b="1" dirty="0">
                <a:solidFill>
                  <a:srgbClr val="161718"/>
                </a:solidFill>
                <a:latin typeface="Work Sans Medium"/>
              </a:rPr>
              <a:t> Reading</a:t>
            </a:r>
            <a:endParaRPr sz="2600" b="1" dirty="0">
              <a:solidFill>
                <a:srgbClr val="161718"/>
              </a:solidFill>
              <a:latin typeface="Work Sans Medium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5212080"/>
            <a:ext cx="108813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440680"/>
            <a:ext cx="10881360" cy="266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 dirty="0">
                <a:solidFill>
                  <a:srgbClr val="428003"/>
                </a:solidFill>
                <a:latin typeface="Work Sans Medium"/>
              </a:rPr>
              <a:t>BENCH RESULT: PASS</a:t>
            </a:r>
            <a:r>
              <a:rPr sz="1300" b="0" dirty="0">
                <a:solidFill>
                  <a:srgbClr val="7F7F7F"/>
                </a:solidFill>
                <a:latin typeface="Work Sans"/>
              </a:rPr>
              <a:t>    </a:t>
            </a:r>
            <a:r>
              <a:rPr lang="en-US" sz="1300" b="0" dirty="0">
                <a:solidFill>
                  <a:srgbClr val="7F7F7F"/>
                </a:solidFill>
                <a:latin typeface="Work Sans"/>
              </a:rPr>
              <a:t>detected, configured, captured, and saved waveform from ECM waveform event</a:t>
            </a:r>
            <a:endParaRPr sz="1300" b="0" dirty="0">
              <a:solidFill>
                <a:srgbClr val="7F7F7F"/>
              </a:solidFill>
              <a:latin typeface="Work Sans"/>
            </a:endParaRPr>
          </a:p>
        </p:txBody>
      </p:sp>
      <p:pic>
        <p:nvPicPr>
          <p:cNvPr id="10" name="Picture 9" descr="The image displays a waveform captured on a Tektronix oscilloscope, showing a negative voltage of -128.485 mV and a frequency of 27.71 mHz, with various settings such as time divisions, sample resolution, and triggering options.&#10;&#10;AI-generated content may be incorrect.">
            <a:extLst>
              <a:ext uri="{FF2B5EF4-FFF2-40B4-BE49-F238E27FC236}">
                <a16:creationId xmlns:a16="http://schemas.microsoft.com/office/drawing/2014/main" id="{6FC2FF44-DB1A-331D-C62A-5CE491592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7545"/>
            <a:ext cx="5017420" cy="2822299"/>
          </a:xfrm>
          <a:prstGeom prst="rect">
            <a:avLst/>
          </a:prstGeom>
        </p:spPr>
      </p:pic>
      <p:pic>
        <p:nvPicPr>
          <p:cNvPr id="12" name="Picture 11" descr="The diagram displays a time-series plot comparing two voltage readings, CH1 and CH2, across a span of 35 seconds, with CH1 starting at 14 volts and peaking at 35 volts, while CH2 starts at -5 volts and increases to 30 volts.&#10;&#10;AI-generated content may be incorrect.">
            <a:extLst>
              <a:ext uri="{FF2B5EF4-FFF2-40B4-BE49-F238E27FC236}">
                <a16:creationId xmlns:a16="http://schemas.microsoft.com/office/drawing/2014/main" id="{178A84C3-486C-90D8-A2BA-D34DE7D6B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86" y="1777545"/>
            <a:ext cx="5960847" cy="30474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FCA1AA-557C-9C3C-69A3-A65F6E972A82}"/>
              </a:ext>
            </a:extLst>
          </p:cNvPr>
          <p:cNvSpPr txBox="1"/>
          <p:nvPr/>
        </p:nvSpPr>
        <p:spPr>
          <a:xfrm>
            <a:off x="1287958" y="1310279"/>
            <a:ext cx="3810354" cy="266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700" b="1" dirty="0">
                <a:solidFill>
                  <a:srgbClr val="428003"/>
                </a:solidFill>
                <a:latin typeface="Work Sans Medium"/>
              </a:rPr>
              <a:t>Oscilloscope View (Manual Edits) </a:t>
            </a:r>
            <a:endParaRPr lang="en-US" sz="1300" b="0" dirty="0">
              <a:solidFill>
                <a:srgbClr val="7F7F7F"/>
              </a:solidFill>
              <a:latin typeface="Work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5FE8F6-DC44-8008-0FCF-A07FB3E40C3B}"/>
              </a:ext>
            </a:extLst>
          </p:cNvPr>
          <p:cNvSpPr txBox="1"/>
          <p:nvPr/>
        </p:nvSpPr>
        <p:spPr>
          <a:xfrm>
            <a:off x="6177516" y="1310279"/>
            <a:ext cx="6251945" cy="2660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n-US" sz="1700" b="1" dirty="0">
                <a:solidFill>
                  <a:srgbClr val="428003"/>
                </a:solidFill>
                <a:latin typeface="Work Sans Medium"/>
              </a:rPr>
              <a:t>Library Generated Image Reflecting Actual Waveform</a:t>
            </a:r>
            <a:endParaRPr lang="en-US" sz="1300" b="0" dirty="0">
              <a:solidFill>
                <a:srgbClr val="7F7F7F"/>
              </a:solidFill>
              <a:latin typeface="Work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2EAB-A045-1572-FFA2-07974EDB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0E314-8D1B-EE8A-3D0C-EAAFA7F1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Results - the generator -&gt; scope pipeline</a:t>
            </a:r>
          </a:p>
        </p:txBody>
      </p:sp>
      <p:pic>
        <p:nvPicPr>
          <p:cNvPr id="3" name="Picture 2" descr="oscope1_ch1_lime.png">
            <a:extLst>
              <a:ext uri="{FF2B5EF4-FFF2-40B4-BE49-F238E27FC236}">
                <a16:creationId xmlns:a16="http://schemas.microsoft.com/office/drawing/2014/main" id="{A5DDC123-EE22-865B-AA12-CC125E831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120640" cy="26456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B241F2-453A-923C-CEA1-AC6C5CEEDD49}"/>
              </a:ext>
            </a:extLst>
          </p:cNvPr>
          <p:cNvSpPr txBox="1"/>
          <p:nvPr/>
        </p:nvSpPr>
        <p:spPr>
          <a:xfrm>
            <a:off x="548640" y="4187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4D5154"/>
                </a:solidFill>
                <a:latin typeface="Consolas"/>
              </a:rPr>
              <a:t>986 pts   Vpp 10.15 V   RMS 6.14 V</a:t>
            </a:r>
          </a:p>
        </p:txBody>
      </p:sp>
      <p:pic>
        <p:nvPicPr>
          <p:cNvPr id="5" name="Picture 4" descr="oscope2_ch1_lime.png">
            <a:extLst>
              <a:ext uri="{FF2B5EF4-FFF2-40B4-BE49-F238E27FC236}">
                <a16:creationId xmlns:a16="http://schemas.microsoft.com/office/drawing/2014/main" id="{DBE4DC2D-FDC3-D559-C059-AB659232D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19" y="1554480"/>
            <a:ext cx="5120640" cy="2645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74666D-47B9-A93D-62C5-0B3EE03E5DD4}"/>
              </a:ext>
            </a:extLst>
          </p:cNvPr>
          <p:cNvSpPr txBox="1"/>
          <p:nvPr/>
        </p:nvSpPr>
        <p:spPr>
          <a:xfrm>
            <a:off x="5989319" y="4187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4D5154"/>
                </a:solidFill>
                <a:latin typeface="Consolas"/>
              </a:rPr>
              <a:t>10,000 pts   +/-0.5 ms pulse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6A9ADD-0A53-F3CD-1AF3-72844B9A0EBC}"/>
              </a:ext>
            </a:extLst>
          </p:cNvPr>
          <p:cNvSpPr/>
          <p:nvPr/>
        </p:nvSpPr>
        <p:spPr>
          <a:xfrm>
            <a:off x="548640" y="5212080"/>
            <a:ext cx="108813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85B8D-A7EB-6724-D2B9-677DE56129CB}"/>
              </a:ext>
            </a:extLst>
          </p:cNvPr>
          <p:cNvSpPr txBox="1"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1">
                <a:solidFill>
                  <a:srgbClr val="428003"/>
                </a:solidFill>
                <a:latin typeface="Work Sans Medium"/>
              </a:rPr>
              <a:t>BENCH RESULT: PASS</a:t>
            </a:r>
            <a:r>
              <a:rPr sz="1300" b="0">
                <a:solidFill>
                  <a:srgbClr val="7F7F7F"/>
                </a:solidFill>
                <a:latin typeface="Work Sans"/>
              </a:rPr>
              <a:t>    detected, configured, captured and saved - both vendors, one API.</a:t>
            </a:r>
          </a:p>
        </p:txBody>
      </p:sp>
    </p:spTree>
    <p:extLst>
      <p:ext uri="{BB962C8B-B14F-4D97-AF65-F5344CB8AC3E}">
        <p14:creationId xmlns:p14="http://schemas.microsoft.com/office/powerpoint/2010/main" val="201087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Instrument automation - major achievements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82296" cy="196596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508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Cross-vendor, one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984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Tektronix + Keysight behind identical calls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Right SCPI chosen per vendor,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325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67200" y="1325880"/>
            <a:ext cx="82296" cy="196596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3232" y="1508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No VISA on the bench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2" y="1984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Pure-Python raw-socket SCPI - no driver/license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One fewer layer to install and debug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60" y="1325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85760" y="1325880"/>
            <a:ext cx="82296" cy="196596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1792" y="1508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Config-as-data + 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792" y="1984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JSON setups; every setting read back PASS/FAIL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An audit trail for each configure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96596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794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Measure +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70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RMS, frequency, duty, delay, pulse width, levels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CSV + PNG auto-saved and labeled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3611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67200" y="3611880"/>
            <a:ext cx="82296" cy="196596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3232" y="3794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Events, not just snapshots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3232" y="4270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arm / read captures a one-time event later in a run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Slow single-shot records (a 20-minute capture)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5760" y="3611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85760" y="3611880"/>
            <a:ext cx="82296" cy="196596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1792" y="3794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Validated with no ECM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4270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AFG self-test: command a signal, prove it comes back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00" b="1">
                <a:solidFill>
                  <a:srgbClr val="428003"/>
                </a:solidFill>
                <a:latin typeface="Work Sans"/>
              </a:rPr>
              <a:t>-  </a:t>
            </a:r>
            <a:r>
              <a:rPr sz="1100" b="0">
                <a:solidFill>
                  <a:srgbClr val="4D5154"/>
                </a:solidFill>
                <a:latin typeface="Work Sans"/>
              </a:rPr>
              <a:t>The whole pipeline tested offline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Instrument automation - what I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Talking to real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SCPI and how instruments actually answer over a socket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Vendor differences are real - and can hide until you capture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One contract, kept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8892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Everything funnels through a single Waveform object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A thin, swappable transport the rest of the code never sees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Offline-first +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Read back every setting instead of trusting the write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Build so it can be tested with no bench attached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46304" cy="1463040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428003"/>
                </a:solidFill>
                <a:latin typeface="Work Sans"/>
              </a:rPr>
              <a:t>PROJECT 2  ·  RESEARCH +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3200" b="1">
                <a:solidFill>
                  <a:srgbClr val="161718"/>
                </a:solidFill>
                <a:latin typeface="Work Sans Medium"/>
              </a:rPr>
              <a:t>Testing the bench in plain English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Natural-language testing - what &amp;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161718"/>
                </a:solidFill>
                <a:latin typeface="Work Sans Medium"/>
              </a:rPr>
              <a:t>Today ECM tests are authored in a rigid tool that needs trained users. The idea: let an engineer write tests in near-English that map to the functions I built.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46888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63347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71800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Readable keyword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3139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A test reads like instructions, not code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Each step maps 1:1 to a library function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9600" y="246888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9600" y="263347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2971800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Determinism at the 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9600" y="3886200"/>
            <a:ext cx="3139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No LLM in the run path - no latency, no service, no surprises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Fast, offline and repeatable - what driving hardware needs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560" y="2468880"/>
            <a:ext cx="313944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90560" y="2633472"/>
            <a:ext cx="313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560" y="2971800"/>
            <a:ext cx="313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Robot Framework -&gt; my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0560" y="3886200"/>
            <a:ext cx="31394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Keyword-driven: sentence -&gt; teststand_api call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The path toward the ASAM XIL bench (next project)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Natural-language testing -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0881360" cy="91440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82296" cy="91440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89888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161718"/>
                </a:solidFill>
                <a:latin typeface="Consolas"/>
              </a:rPr>
              <a:t>"Measure the frequency on channel 1 of my scope"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92224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7F7F7F"/>
                </a:solidFill>
                <a:latin typeface="Work Sans"/>
              </a:rPr>
              <a:t>becomes  </a:t>
            </a:r>
            <a:r>
              <a:rPr sz="1200" b="1">
                <a:solidFill>
                  <a:srgbClr val="428003"/>
                </a:solidFill>
                <a:latin typeface="Consolas"/>
              </a:rPr>
              <a:t>scope_frequency(alias, 1)</a:t>
            </a:r>
            <a:r>
              <a:rPr sz="1200" b="0">
                <a:solidFill>
                  <a:srgbClr val="7F7F7F"/>
                </a:solidFill>
                <a:latin typeface="Work Sans"/>
              </a:rPr>
              <a:t>  - deterministically, no function name in sight.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7680960" cy="566928"/>
          </a:xfrm>
          <a:prstGeom prst="rect">
            <a:avLst/>
          </a:prstGeom>
          <a:solidFill>
            <a:srgbClr val="B0FF45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Plain-English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08376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82112"/>
            <a:ext cx="7680960" cy="566928"/>
          </a:xfrm>
          <a:prstGeom prst="rect">
            <a:avLst/>
          </a:prstGeom>
          <a:solidFill>
            <a:srgbClr val="E6E7E8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182112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Robot Framework  (keyword-driven)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21608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895344"/>
            <a:ext cx="7680960" cy="566928"/>
          </a:xfrm>
          <a:prstGeom prst="rect">
            <a:avLst/>
          </a:prstGeom>
          <a:solidFill>
            <a:srgbClr val="E6E7E8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895344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teststand_api  (58 functions)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608576"/>
            <a:ext cx="7680960" cy="566928"/>
          </a:xfrm>
          <a:prstGeom prst="rect">
            <a:avLst/>
          </a:prstGeom>
          <a:solidFill>
            <a:srgbClr val="B0FF45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608576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 Medium"/>
              </a:rPr>
              <a:t>Raw-socket SCPI  (no VISA)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48072"/>
            <a:ext cx="7680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Work Sans"/>
              </a:rPr>
              <a:t>|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321808"/>
            <a:ext cx="7680960" cy="566928"/>
          </a:xfrm>
          <a:prstGeom prst="rect">
            <a:avLst/>
          </a:prstGeom>
          <a:solidFill>
            <a:srgbClr val="161718"/>
          </a:solidFill>
          <a:ln w="12700">
            <a:solidFill>
              <a:srgbClr val="E6E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321808"/>
            <a:ext cx="76809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Work Sans Medium"/>
              </a:rPr>
              <a:t>HIL bench:  Generator -&gt; ECM -&gt; Oscilloscope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65176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 b="1">
                <a:solidFill>
                  <a:srgbClr val="161718"/>
                </a:solidFill>
                <a:latin typeface="Work Sans"/>
              </a:rPr>
              <a:t>Each layer is swappable.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063240"/>
            <a:ext cx="30175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The same English can one day sit on the ASAM XIL API instead of SCPI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Runs offline against a fake instrument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Natural-language use case - one sine, three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1  ·  WRITE THE TEST IN PLAIN ENGLISH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56235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6235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Set up a 1 kHz sine wave on the generator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  When I set up the generator for a "sine_1k" waveform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  Then the waveform shape should be a sine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  And the frequency should be 1000 hertz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  And the amplitude should be 2 volts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  And the output load should be 50 ohms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  And the SCPI should be saved to a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2  ·  THE LIBRARY EMITS THE EXACT SCPI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95928"/>
            <a:ext cx="562356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6235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SOURce1:FUNCtion:SHAPe SIN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OUTPut1:IMPedance 50.0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SOURce1:FREQuency 1000.0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SOURce1:VOLTage:AMPLitude 2.0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SOURce1:VOLTage:OFFSet 0.0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00" b="0">
                <a:solidFill>
                  <a:srgbClr val="161718"/>
                </a:solidFill>
                <a:latin typeface="Consolas"/>
              </a:rPr>
              <a:t>#  + a read-back query to verify each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3  ·  CAPTURE THE RESULTING WAVEFORM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572768"/>
            <a:ext cx="5212080" cy="27432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nl_sine_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19"/>
            <a:ext cx="5212080" cy="26509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4580355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Work Sans"/>
              </a:rPr>
              <a:t>ecm_scope CH1  -  1 kHz sine, 2 Vpp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991836"/>
            <a:ext cx="5212080" cy="454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lang="en-US" sz="1300" dirty="0">
                <a:solidFill>
                  <a:srgbClr val="161718"/>
                </a:solidFill>
                <a:latin typeface="Work Sans"/>
              </a:rPr>
              <a:t>O</a:t>
            </a:r>
            <a:r>
              <a:rPr sz="1300" dirty="0">
                <a:solidFill>
                  <a:srgbClr val="161718"/>
                </a:solidFill>
                <a:latin typeface="Work Sans"/>
              </a:rPr>
              <a:t>ne readable test </a:t>
            </a:r>
            <a:r>
              <a:rPr sz="1300" dirty="0">
                <a:solidFill>
                  <a:srgbClr val="4D5154"/>
                </a:solidFill>
                <a:latin typeface="Work Sans"/>
              </a:rPr>
              <a:t>becomes </a:t>
            </a:r>
            <a:r>
              <a:rPr sz="1300" b="0" dirty="0">
                <a:solidFill>
                  <a:srgbClr val="4D5154"/>
                </a:solidFill>
                <a:latin typeface="Work Sans"/>
              </a:rPr>
              <a:t>the exact SCPI on the wire and the captured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170" y="5852160"/>
            <a:ext cx="5623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Consolas"/>
              </a:rPr>
              <a:t>plain English   &gt;   SCPI   &gt;   waveform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Natural-language testing -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303520" cy="1874519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2296" cy="187451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554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It runs - all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29967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Plain-English suites drive the real library, 13 tests pass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Configure, capture, measure, save - offline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79" y="1371600"/>
            <a:ext cx="5303520" cy="1874519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79" y="1371600"/>
            <a:ext cx="82296" cy="187451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554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The SCPI is captured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029967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Every configure writes its exact SCPI to a log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Both Tektronix and Keysight dialects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20439"/>
            <a:ext cx="5303520" cy="1874519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520439"/>
            <a:ext cx="82296" cy="187451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7033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Whole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178807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Converted the ECM-triangle demo 1:1 - same calls, same order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Connect -&gt; configure -&gt; arm -&gt; capture -&gt; save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3520439"/>
            <a:ext cx="5303520" cy="1874519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79" y="3520439"/>
            <a:ext cx="82296" cy="1874519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37033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Total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178807"/>
            <a:ext cx="4846320" cy="190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 dirty="0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 dirty="0">
                <a:solidFill>
                  <a:srgbClr val="4D5154"/>
                </a:solidFill>
                <a:latin typeface="Work Sans"/>
              </a:rPr>
              <a:t>All 58 </a:t>
            </a:r>
            <a:r>
              <a:rPr sz="1200" b="0" dirty="0" err="1">
                <a:solidFill>
                  <a:srgbClr val="4D5154"/>
                </a:solidFill>
                <a:latin typeface="Work Sans"/>
              </a:rPr>
              <a:t>teststand_api</a:t>
            </a:r>
            <a:r>
              <a:rPr sz="1200" b="0" dirty="0">
                <a:solidFill>
                  <a:srgbClr val="4D5154"/>
                </a:solidFill>
                <a:latin typeface="Work Sans"/>
              </a:rPr>
              <a:t> functions reachable by a sentence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778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161718"/>
                </a:solidFill>
                <a:latin typeface="Work Sans"/>
              </a:rPr>
              <a:t>Proven end to end: </a:t>
            </a:r>
            <a:r>
              <a:rPr sz="1300" b="0">
                <a:solidFill>
                  <a:srgbClr val="4D5154"/>
                </a:solidFill>
                <a:latin typeface="Work Sans"/>
              </a:rPr>
              <a:t>the same library, now driven in English - with the exact SCPI on record.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244682"/>
            <a:ext cx="11117083" cy="492443"/>
          </a:xfrm>
        </p:spPr>
        <p:txBody>
          <a:bodyPr/>
          <a:lstStyle/>
          <a:p>
            <a:r>
              <a:rPr sz="2600" b="1" dirty="0">
                <a:solidFill>
                  <a:srgbClr val="161718"/>
                </a:solidFill>
                <a:latin typeface="Work Sans Medium"/>
              </a:rPr>
              <a:t>Natural-language testing - </a:t>
            </a:r>
            <a:r>
              <a:rPr lang="en-US" sz="2600" b="1" dirty="0">
                <a:solidFill>
                  <a:srgbClr val="161718"/>
                </a:solidFill>
                <a:latin typeface="Work Sans Medium"/>
              </a:rPr>
              <a:t>M</a:t>
            </a:r>
            <a:r>
              <a:rPr sz="2600" b="1" dirty="0">
                <a:solidFill>
                  <a:srgbClr val="161718"/>
                </a:solidFill>
                <a:latin typeface="Work Sans Medium"/>
              </a:rPr>
              <a:t>ajor </a:t>
            </a:r>
            <a:r>
              <a:rPr lang="en-US" sz="2600" b="1" dirty="0">
                <a:solidFill>
                  <a:srgbClr val="161718"/>
                </a:solidFill>
                <a:latin typeface="Work Sans Medium"/>
              </a:rPr>
              <a:t>Ac</a:t>
            </a:r>
            <a:r>
              <a:rPr sz="2600" b="1" dirty="0">
                <a:solidFill>
                  <a:srgbClr val="161718"/>
                </a:solidFill>
                <a:latin typeface="Work Sans Medium"/>
              </a:rPr>
              <a:t>hievements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82296" cy="19659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508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Working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984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Robot Framework drives the whole library in English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325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67200" y="1325880"/>
            <a:ext cx="82296" cy="19659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3232" y="1508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dirty="0">
                <a:solidFill>
                  <a:srgbClr val="161718"/>
                </a:solidFill>
                <a:latin typeface="Work Sans Medium"/>
              </a:rPr>
              <a:t>Offline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232" y="1984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 dirty="0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 dirty="0">
                <a:solidFill>
                  <a:srgbClr val="4D5154"/>
                </a:solidFill>
                <a:latin typeface="Work Sans"/>
              </a:rPr>
              <a:t>A fake instrument so it runs with no bench; SCPI captured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85760" y="1325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85760" y="1325880"/>
            <a:ext cx="82296" cy="19659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1792" y="1508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Workflow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792" y="1984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An existing demo script reproduced 1:1 in plain English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82296" cy="19659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794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Full NL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70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A sentence for every one of the 58 functions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3611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67200" y="3611880"/>
            <a:ext cx="82296" cy="19659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3232" y="3794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Vendor-neutral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3232" y="4270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"5 V/div" works for Tektronix and Keysight alike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85760" y="3611880"/>
            <a:ext cx="3444240" cy="1965960"/>
          </a:xfrm>
          <a:prstGeom prst="rect">
            <a:avLst/>
          </a:prstGeom>
          <a:solidFill>
            <a:srgbClr val="E6E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85760" y="3611880"/>
            <a:ext cx="82296" cy="1965960"/>
          </a:xfrm>
          <a:prstGeom prst="rect">
            <a:avLst/>
          </a:prstGeom>
          <a:solidFill>
            <a:srgbClr val="753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41792" y="3794760"/>
            <a:ext cx="298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161718"/>
                </a:solidFill>
                <a:latin typeface="Work Sans Medium"/>
              </a:rPr>
              <a:t>Research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4270248"/>
            <a:ext cx="2987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-  </a:t>
            </a:r>
            <a:r>
              <a:rPr sz="1150" b="0">
                <a:solidFill>
                  <a:srgbClr val="4D5154"/>
                </a:solidFill>
                <a:latin typeface="Work Sans"/>
              </a:rPr>
              <a:t>A doc mapping the path to the ASAM XIL HIL bench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Natural-language testing - what I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Keyword-driven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How to turn readable sentences into deterministic calls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Layering a vocabulary so tests read like a paragraph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JUDGEMENT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When NOT to use an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8892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Latency and non-determinism are unacceptable driving hardware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The right tool is boring, fast and offline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161718"/>
                </a:solidFill>
                <a:latin typeface="Work Sans Medium"/>
              </a:rPr>
              <a:t>Reading toward a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8892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ASAM XIL, pythonnet, and how a HIL bench is really driven</a:t>
            </a:r>
          </a:p>
          <a:p>
            <a:pPr algn="l">
              <a:lnSpc>
                <a:spcPct val="110000"/>
              </a:lnSpc>
              <a:spcAft>
                <a:spcPts val="1100"/>
              </a:spcAft>
            </a:pPr>
            <a:r>
              <a:rPr sz="1250" b="1">
                <a:solidFill>
                  <a:srgbClr val="428003"/>
                </a:solidFill>
                <a:latin typeface="Work Sans"/>
              </a:rPr>
              <a:t>-  </a:t>
            </a:r>
            <a:r>
              <a:rPr sz="1250" b="0">
                <a:solidFill>
                  <a:srgbClr val="4D5154"/>
                </a:solidFill>
                <a:latin typeface="Work Sans"/>
              </a:rPr>
              <a:t>Turning research into a concrete, buildable next step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61718"/>
                </a:solidFill>
                <a:latin typeface="Work Sans Medium"/>
              </a:rPr>
              <a:t>Mentorship, collaboration &amp; the KPIT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MENTORSHIP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Learning from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3200400" cy="725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 dirty="0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 dirty="0">
                <a:solidFill>
                  <a:srgbClr val="4D5154"/>
                </a:solidFill>
                <a:latin typeface="Work Sans"/>
              </a:rPr>
              <a:t>Reviews and pairing turned rough code into something dependable</a:t>
            </a:r>
            <a:endParaRPr lang="en-US" sz="1200" b="0" dirty="0">
              <a:solidFill>
                <a:srgbClr val="4D5154"/>
              </a:solidFill>
              <a:latin typeface="Work Sans"/>
            </a:endParaRP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lang="en-US" sz="1200" b="1" dirty="0">
                <a:solidFill>
                  <a:srgbClr val="428003"/>
                </a:solidFill>
                <a:latin typeface="Work Sans"/>
              </a:rPr>
              <a:t>-  </a:t>
            </a:r>
            <a:endParaRPr lang="en-US" sz="1200" b="0" dirty="0">
              <a:solidFill>
                <a:srgbClr val="4D5154"/>
              </a:solidFill>
              <a:latin typeface="Work San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One piece of a bigger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3464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My block is one part of a larger test API - keep the surface clean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Design so others can build on it without knowing the internals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200400" cy="54864"/>
          </a:xfrm>
          <a:prstGeom prst="rect">
            <a:avLst/>
          </a:prstGeom>
          <a:solidFill>
            <a:srgbClr val="B0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5361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>
                <a:solidFill>
                  <a:srgbClr val="428003"/>
                </a:solidFill>
                <a:latin typeface="Work Sans"/>
              </a:rPr>
              <a:t>THE KPIT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>
                <a:solidFill>
                  <a:srgbClr val="161718"/>
                </a:solidFill>
                <a:latin typeface="Work Sans Medium"/>
              </a:rPr>
              <a:t>Engineering, for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8079" y="2834640"/>
            <a:ext cx="32004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How HIL benches verify an ECM in a professional V&amp;V workflow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428003"/>
                </a:solidFill>
                <a:latin typeface="Work Sans"/>
              </a:rPr>
              <a:t>-  </a:t>
            </a:r>
            <a:r>
              <a:rPr sz="1200" b="0">
                <a:solidFill>
                  <a:srgbClr val="4D5154"/>
                </a:solidFill>
                <a:latin typeface="Work Sans"/>
              </a:rPr>
              <a:t>Traceability and rigor (ASPICE) a school project never teaches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dirty="0">
                <a:solidFill>
                  <a:srgbClr val="161718"/>
                </a:solidFill>
                <a:latin typeface="Work Sans"/>
              </a:rPr>
              <a:t>Biggest takeaway: </a:t>
            </a:r>
            <a:r>
              <a:rPr sz="1400" b="0" dirty="0">
                <a:solidFill>
                  <a:srgbClr val="4D5154"/>
                </a:solidFill>
                <a:latin typeface="Work Sans"/>
              </a:rPr>
              <a:t>good engineering is as much about a clean, testable contract and working with people as it is about the code itself.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F4568-7A32-4095-A56F-6FC7C33B42A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746326FC-718E-44CC-BED1-A9F2A670D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77166" y="4185650"/>
            <a:ext cx="11117083" cy="800219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F1EFD-2D38-4486-BFF9-E7FA70661E6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CED9324-B2E2-4A85-9931-40B505EF33D5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anose="00000500000000000000" pitchFamily="2" charset="0"/>
                <a:ea typeface="+mn-ea"/>
                <a:cs typeface="+mn-cs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8/12/2026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anose="00000500000000000000" pitchFamily="2" charset="0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4E0FAF-22DF-4BEB-9BE7-660DB1EF4A3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marL="0" marR="0" lvl="0" indent="0" algn="r" defTabSz="7619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A725F3-83D0-4529-A15C-9D644B8C51E0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 panose="00000500000000000000" pitchFamily="2" charset="0"/>
                <a:ea typeface="+mn-ea"/>
                <a:cs typeface="+mn-cs"/>
              </a:rPr>
              <a:pPr marL="0" marR="0" lvl="0" indent="0" algn="r" defTabSz="7619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722458"/>
      </p:ext>
    </p:extLst>
  </p:cSld>
  <p:clrMapOvr>
    <a:masterClrMapping/>
  </p:clrMapOvr>
</p:sld>
</file>

<file path=ppt/theme/theme1.xml><?xml version="1.0" encoding="utf-8"?>
<a:theme xmlns:a="http://schemas.openxmlformats.org/drawingml/2006/main" name="1_Theme2">
  <a:themeElements>
    <a:clrScheme name="KPIT Colour Palette">
      <a:dk1>
        <a:srgbClr val="161718"/>
      </a:dk1>
      <a:lt1>
        <a:srgbClr val="FFFFFF"/>
      </a:lt1>
      <a:dk2>
        <a:srgbClr val="4D5154"/>
      </a:dk2>
      <a:lt2>
        <a:srgbClr val="E6E7E8"/>
      </a:lt2>
      <a:accent1>
        <a:srgbClr val="B0FF45"/>
      </a:accent1>
      <a:accent2>
        <a:srgbClr val="8FDB00"/>
      </a:accent2>
      <a:accent3>
        <a:srgbClr val="428003"/>
      </a:accent3>
      <a:accent4>
        <a:srgbClr val="753DFF"/>
      </a:accent4>
      <a:accent5>
        <a:srgbClr val="622AD8"/>
      </a:accent5>
      <a:accent6>
        <a:srgbClr val="7F7F7F"/>
      </a:accent6>
      <a:hlink>
        <a:srgbClr val="753DFF"/>
      </a:hlink>
      <a:folHlink>
        <a:srgbClr val="A5A5A5"/>
      </a:folHlink>
    </a:clrScheme>
    <a:fontScheme name="KPIT">
      <a:majorFont>
        <a:latin typeface="Work Sans Medium"/>
        <a:ea typeface=""/>
        <a:cs typeface=""/>
      </a:majorFont>
      <a:minorFont>
        <a:latin typeface="Work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2" id="{CB72D8F3-45C4-4B08-858D-ABF76BE34D16}" vid="{3D118F23-D70E-4721-BE64-D354ECB70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1044ba-05f8-4ef7-90dd-670289e9285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338967516CF440A42CA4A84FDC4543" ma:contentTypeVersion="10" ma:contentTypeDescription="Create a new document." ma:contentTypeScope="" ma:versionID="550b2ce6b82b184d3f9de0d3b6e66315">
  <xsd:schema xmlns:xsd="http://www.w3.org/2001/XMLSchema" xmlns:xs="http://www.w3.org/2001/XMLSchema" xmlns:p="http://schemas.microsoft.com/office/2006/metadata/properties" xmlns:ns3="041044ba-05f8-4ef7-90dd-670289e9285c" targetNamespace="http://schemas.microsoft.com/office/2006/metadata/properties" ma:root="true" ma:fieldsID="39f3724c156efd1703499c0c2b792ce7" ns3:_="">
    <xsd:import namespace="041044ba-05f8-4ef7-90dd-670289e9285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1044ba-05f8-4ef7-90dd-670289e9285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050BF8-55F1-4092-B0EB-935D3CB4633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5CB79E-81A4-4219-BB52-271B3FDC5A97}">
  <ds:schemaRefs>
    <ds:schemaRef ds:uri="041044ba-05f8-4ef7-90dd-670289e9285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1262FF3-A9D0-436F-87BB-BB73B2792773}">
  <ds:schemaRefs>
    <ds:schemaRef ds:uri="041044ba-05f8-4ef7-90dd-670289e928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1744</Words>
  <Application>Microsoft Office PowerPoint</Application>
  <PresentationFormat>Widescreen</PresentationFormat>
  <Paragraphs>255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Consolas</vt:lpstr>
      <vt:lpstr>Segoe UI</vt:lpstr>
      <vt:lpstr>Work Sans</vt:lpstr>
      <vt:lpstr>Work Sans Light</vt:lpstr>
      <vt:lpstr>Work Sans Medium</vt:lpstr>
      <vt:lpstr>1_Theme2</vt:lpstr>
      <vt:lpstr>End-of-Internship Project Presentation</vt:lpstr>
      <vt:lpstr>Hello, I'm Ritvik</vt:lpstr>
      <vt:lpstr>PowerPoint Presentation</vt:lpstr>
      <vt:lpstr>What, why, how</vt:lpstr>
      <vt:lpstr>Flow - two libraries, one API</vt:lpstr>
      <vt:lpstr>The main function calls</vt:lpstr>
      <vt:lpstr>One clean sequence, end to end</vt:lpstr>
      <vt:lpstr>Use cases</vt:lpstr>
      <vt:lpstr>Results – ECM Generated Waveform -&gt; Oscope Reading</vt:lpstr>
      <vt:lpstr>Results - the generator -&gt; scope pipeline</vt:lpstr>
      <vt:lpstr>Instrument automation - major achievements</vt:lpstr>
      <vt:lpstr>Instrument automation - what I learned</vt:lpstr>
      <vt:lpstr>PowerPoint Presentation</vt:lpstr>
      <vt:lpstr>Natural-language testing - what &amp; why</vt:lpstr>
      <vt:lpstr>Natural-language testing - how it works</vt:lpstr>
      <vt:lpstr>Natural-language use case - one sine, three views</vt:lpstr>
      <vt:lpstr>Natural-language testing - results</vt:lpstr>
      <vt:lpstr>Natural-language testing - Major Achievements</vt:lpstr>
      <vt:lpstr>Natural-language testing - what I learned</vt:lpstr>
      <vt:lpstr>Mentorship, collaboration &amp; the KPIT experience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Salil Kanade</dc:creator>
  <cp:lastModifiedBy>Narula, Ritvik</cp:lastModifiedBy>
  <cp:revision>9</cp:revision>
  <dcterms:created xsi:type="dcterms:W3CDTF">2026-03-19T06:56:57Z</dcterms:created>
  <dcterms:modified xsi:type="dcterms:W3CDTF">2026-08-12T19:31:41Z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0x01010081338967516CF440A42CA4A84FDC4543</vt:lpwstr>
  </property>
  <property fmtid="{D5CDD505-2E9C-101B-9397-08002B2CF9AE}" pid="3" name="MSIP_Label_2509429c-126f-4246-870e-ddae2f3647a6_Enabled">
    <vt:lpwstr>true</vt:lpwstr>
  </property>
  <property fmtid="{D5CDD505-2E9C-101B-9397-08002B2CF9AE}" pid="4" name="MSIP_Label_2509429c-126f-4246-870e-ddae2f3647a6_SetDate">
    <vt:lpwstr>2026-06-28T21:36:31Z</vt:lpwstr>
  </property>
  <property fmtid="{D5CDD505-2E9C-101B-9397-08002B2CF9AE}" pid="5" name="MSIP_Label_2509429c-126f-4246-870e-ddae2f3647a6_Method">
    <vt:lpwstr>Standard</vt:lpwstr>
  </property>
  <property fmtid="{D5CDD505-2E9C-101B-9397-08002B2CF9AE}" pid="6" name="MSIP_Label_2509429c-126f-4246-870e-ddae2f3647a6_Name">
    <vt:lpwstr>General</vt:lpwstr>
  </property>
  <property fmtid="{D5CDD505-2E9C-101B-9397-08002B2CF9AE}" pid="7" name="MSIP_Label_2509429c-126f-4246-870e-ddae2f3647a6_SiteId">
    <vt:lpwstr>3539451e-b46e-4a26-a242-ff61502855c7</vt:lpwstr>
  </property>
  <property fmtid="{D5CDD505-2E9C-101B-9397-08002B2CF9AE}" pid="8" name="MSIP_Label_2509429c-126f-4246-870e-ddae2f3647a6_ActionId">
    <vt:lpwstr>9839a408-39e0-4203-96a2-0c4d9e56cd17</vt:lpwstr>
  </property>
  <property fmtid="{D5CDD505-2E9C-101B-9397-08002B2CF9AE}" pid="9" name="MSIP_Label_2509429c-126f-4246-870e-ddae2f3647a6_ContentBits">
    <vt:lpwstr>0</vt:lpwstr>
  </property>
  <property fmtid="{D5CDD505-2E9C-101B-9397-08002B2CF9AE}" pid="10" name="MSIP_Label_2509429c-126f-4246-870e-ddae2f3647a6_Tag">
    <vt:lpwstr>10, 3, 0, 1</vt:lpwstr>
  </property>
</Properties>
</file>